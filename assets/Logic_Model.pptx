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varScale="1">
        <p:scale>
          <a:sx n="99" d="100"/>
          <a:sy n="99" d="100"/>
        </p:scale>
        <p:origin x="192" y="6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4799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05A2C"/>
          </a:solidFill>
          <a:ln w="12700">
            <a:solidFill>
              <a:srgbClr val="005A2C"/>
            </a:solidFill>
            <a:prstDash val="solid"/>
          </a:ln>
        </p:spPr>
        <p:txBody>
          <a:bodyPr/>
          <a:lstStyle/>
          <a:p>
            <a:endParaRPr lang="en-US"/>
          </a:p>
        </p:txBody>
      </p:sp>
      <p:sp>
        <p:nvSpPr>
          <p:cNvPr id="3" name="Shape 1"/>
          <p:cNvSpPr/>
          <p:nvPr/>
        </p:nvSpPr>
        <p:spPr>
          <a:xfrm>
            <a:off x="0" y="0"/>
            <a:ext cx="54864" cy="960120"/>
          </a:xfrm>
          <a:prstGeom prst="rect">
            <a:avLst/>
          </a:prstGeom>
          <a:solidFill>
            <a:srgbClr val="78B428"/>
          </a:solidFill>
          <a:ln w="12700">
            <a:solidFill>
              <a:srgbClr val="78B428"/>
            </a:solidFill>
            <a:prstDash val="solid"/>
          </a:ln>
        </p:spPr>
        <p:txBody>
          <a:bodyPr/>
          <a:lstStyle/>
          <a:p>
            <a:endParaRPr lang="en-US"/>
          </a:p>
        </p:txBody>
      </p:sp>
      <p:sp>
        <p:nvSpPr>
          <p:cNvPr id="4" name="Text 2"/>
          <p:cNvSpPr/>
          <p:nvPr/>
        </p:nvSpPr>
        <p:spPr>
          <a:xfrm>
            <a:off x="164592" y="45720"/>
            <a:ext cx="5303520" cy="411480"/>
          </a:xfrm>
          <a:prstGeom prst="rect">
            <a:avLst/>
          </a:prstGeom>
          <a:noFill/>
          <a:ln/>
        </p:spPr>
        <p:txBody>
          <a:bodyPr wrap="square" lIns="0" tIns="0" rIns="0" bIns="0" rtlCol="0" anchor="ctr"/>
          <a:lstStyle/>
          <a:p>
            <a:pPr marL="0" indent="0">
              <a:buNone/>
            </a:pPr>
            <a:r>
              <a:rPr lang="en-US" sz="2000" b="1" dirty="0" err="1">
                <a:solidFill>
                  <a:srgbClr val="FFFFFF"/>
                </a:solidFill>
                <a:latin typeface="Calibri" pitchFamily="34" charset="0"/>
                <a:ea typeface="Calibri" pitchFamily="34" charset="-122"/>
                <a:cs typeface="Calibri" pitchFamily="34" charset="-120"/>
              </a:rPr>
              <a:t>Teach</a:t>
            </a:r>
            <a:r>
              <a:rPr lang="en-US" sz="2000" b="1" dirty="0" err="1">
                <a:solidFill>
                  <a:srgbClr val="78B428"/>
                </a:solidFill>
                <a:latin typeface="Calibri" pitchFamily="34" charset="0"/>
                <a:ea typeface="Calibri" pitchFamily="34" charset="-122"/>
                <a:cs typeface="Calibri" pitchFamily="34" charset="-120"/>
              </a:rPr>
              <a:t>For</a:t>
            </a:r>
            <a:r>
              <a:rPr lang="en-US" sz="2000" b="1" dirty="0" err="1">
                <a:solidFill>
                  <a:srgbClr val="FFFFFF"/>
                </a:solidFill>
                <a:latin typeface="Calibri" pitchFamily="34" charset="0"/>
                <a:ea typeface="Calibri" pitchFamily="34" charset="-122"/>
                <a:cs typeface="Calibri" pitchFamily="34" charset="-120"/>
              </a:rPr>
              <a:t>Nigeria</a:t>
            </a:r>
            <a:r>
              <a:rPr lang="en-US" sz="1300" dirty="0">
                <a:solidFill>
                  <a:srgbClr val="CCDDCC"/>
                </a:solidFill>
                <a:latin typeface="Calibri" pitchFamily="34" charset="0"/>
                <a:ea typeface="Calibri" pitchFamily="34" charset="-122"/>
                <a:cs typeface="Calibri" pitchFamily="34" charset="-120"/>
              </a:rPr>
              <a:t>  Two-Year Fellowship Program  ·  Logic Model</a:t>
            </a:r>
            <a:endParaRPr lang="en-US" sz="2000" dirty="0"/>
          </a:p>
        </p:txBody>
      </p:sp>
      <p:sp>
        <p:nvSpPr>
          <p:cNvPr id="5" name="Text 3"/>
          <p:cNvSpPr/>
          <p:nvPr/>
        </p:nvSpPr>
        <p:spPr>
          <a:xfrm>
            <a:off x="164592" y="475488"/>
            <a:ext cx="5303520" cy="256032"/>
          </a:xfrm>
          <a:prstGeom prst="rect">
            <a:avLst/>
          </a:prstGeom>
          <a:noFill/>
          <a:ln/>
        </p:spPr>
        <p:txBody>
          <a:bodyPr wrap="square" lIns="0" tIns="0" rIns="0" bIns="0" rtlCol="0" anchor="ctr"/>
          <a:lstStyle/>
          <a:p>
            <a:pPr marL="0" indent="0">
              <a:buNone/>
            </a:pPr>
            <a:r>
              <a:rPr lang="en-US" sz="1100" dirty="0">
                <a:solidFill>
                  <a:srgbClr val="A8D890"/>
                </a:solidFill>
                <a:latin typeface="Calibri" pitchFamily="34" charset="0"/>
                <a:ea typeface="Calibri" pitchFamily="34" charset="-122"/>
                <a:cs typeface="Calibri" pitchFamily="34" charset="-120"/>
              </a:rPr>
              <a:t>Regional Focus: Ogun State, Nigeria</a:t>
            </a:r>
            <a:endParaRPr lang="en-US" sz="1100" dirty="0"/>
          </a:p>
        </p:txBody>
      </p:sp>
      <p:sp>
        <p:nvSpPr>
          <p:cNvPr id="6" name="Shape 4"/>
          <p:cNvSpPr/>
          <p:nvPr/>
        </p:nvSpPr>
        <p:spPr>
          <a:xfrm>
            <a:off x="5669280" y="91440"/>
            <a:ext cx="6355080" cy="804672"/>
          </a:xfrm>
          <a:prstGeom prst="rect">
            <a:avLst/>
          </a:prstGeom>
          <a:solidFill>
            <a:srgbClr val="00783C">
              <a:alpha val="70000"/>
            </a:srgbClr>
          </a:solidFill>
          <a:ln w="15240">
            <a:solidFill>
              <a:srgbClr val="78B428"/>
            </a:solidFill>
            <a:prstDash val="solid"/>
          </a:ln>
        </p:spPr>
        <p:txBody>
          <a:bodyPr/>
          <a:lstStyle/>
          <a:p>
            <a:endParaRPr lang="en-US"/>
          </a:p>
        </p:txBody>
      </p:sp>
      <p:sp>
        <p:nvSpPr>
          <p:cNvPr id="7" name="Text 5"/>
          <p:cNvSpPr/>
          <p:nvPr/>
        </p:nvSpPr>
        <p:spPr>
          <a:xfrm>
            <a:off x="5806440" y="100584"/>
            <a:ext cx="1280160" cy="201168"/>
          </a:xfrm>
          <a:prstGeom prst="rect">
            <a:avLst/>
          </a:prstGeom>
          <a:noFill/>
          <a:ln/>
        </p:spPr>
        <p:txBody>
          <a:bodyPr wrap="square" lIns="0" tIns="0" rIns="0" bIns="0" rtlCol="0" anchor="ctr"/>
          <a:lstStyle/>
          <a:p>
            <a:pPr marL="0" indent="0">
              <a:buNone/>
            </a:pPr>
            <a:r>
              <a:rPr lang="en-US" sz="750" b="1" kern="0" spc="150" dirty="0">
                <a:solidFill>
                  <a:srgbClr val="78B428"/>
                </a:solidFill>
                <a:latin typeface="Calibri" pitchFamily="34" charset="0"/>
                <a:ea typeface="Calibri" pitchFamily="34" charset="-122"/>
                <a:cs typeface="Calibri" pitchFamily="34" charset="-120"/>
              </a:rPr>
              <a:t>PROGRAM GOAL</a:t>
            </a:r>
            <a:endParaRPr lang="en-US" sz="750" dirty="0"/>
          </a:p>
        </p:txBody>
      </p:sp>
      <p:sp>
        <p:nvSpPr>
          <p:cNvPr id="8" name="Text 6"/>
          <p:cNvSpPr/>
          <p:nvPr/>
        </p:nvSpPr>
        <p:spPr>
          <a:xfrm>
            <a:off x="5806440" y="274320"/>
            <a:ext cx="6126480" cy="594360"/>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To develop high-potential Nigerian graduates and professionals into effective classroom teachers and equity-minded leaders who improve foundational learning outcomes in underserved schools in Ogun State, and who go on to sustain a long-term commitment to eliminating educational inequity in Nigeria.</a:t>
            </a:r>
            <a:endParaRPr lang="en-US" sz="850" dirty="0"/>
          </a:p>
        </p:txBody>
      </p:sp>
      <p:sp>
        <p:nvSpPr>
          <p:cNvPr id="9" name="Shape 7"/>
          <p:cNvSpPr/>
          <p:nvPr/>
        </p:nvSpPr>
        <p:spPr>
          <a:xfrm>
            <a:off x="0" y="960120"/>
            <a:ext cx="1572768" cy="274320"/>
          </a:xfrm>
          <a:prstGeom prst="rect">
            <a:avLst/>
          </a:prstGeom>
          <a:solidFill>
            <a:srgbClr val="005A2C"/>
          </a:solidFill>
          <a:ln w="6350">
            <a:solidFill>
              <a:srgbClr val="FFFFFF"/>
            </a:solidFill>
            <a:prstDash val="solid"/>
          </a:ln>
        </p:spPr>
        <p:txBody>
          <a:bodyPr/>
          <a:lstStyle/>
          <a:p>
            <a:endParaRPr lang="en-US"/>
          </a:p>
        </p:txBody>
      </p:sp>
      <p:sp>
        <p:nvSpPr>
          <p:cNvPr id="10" name="Text 8"/>
          <p:cNvSpPr/>
          <p:nvPr/>
        </p:nvSpPr>
        <p:spPr>
          <a:xfrm>
            <a:off x="0" y="960120"/>
            <a:ext cx="1572768" cy="274320"/>
          </a:xfrm>
          <a:prstGeom prst="rect">
            <a:avLst/>
          </a:prstGeom>
          <a:noFill/>
          <a:ln/>
        </p:spPr>
        <p:txBody>
          <a:bodyPr wrap="square"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INPUTS</a:t>
            </a:r>
            <a:endParaRPr lang="en-US" sz="750" dirty="0"/>
          </a:p>
        </p:txBody>
      </p:sp>
      <p:sp>
        <p:nvSpPr>
          <p:cNvPr id="11" name="Shape 9"/>
          <p:cNvSpPr/>
          <p:nvPr/>
        </p:nvSpPr>
        <p:spPr>
          <a:xfrm>
            <a:off x="1572768" y="960120"/>
            <a:ext cx="1828800" cy="274320"/>
          </a:xfrm>
          <a:prstGeom prst="rect">
            <a:avLst/>
          </a:prstGeom>
          <a:solidFill>
            <a:srgbClr val="006432"/>
          </a:solidFill>
          <a:ln w="6350">
            <a:solidFill>
              <a:srgbClr val="FFFFFF"/>
            </a:solidFill>
            <a:prstDash val="solid"/>
          </a:ln>
        </p:spPr>
        <p:txBody>
          <a:bodyPr/>
          <a:lstStyle/>
          <a:p>
            <a:endParaRPr lang="en-US"/>
          </a:p>
        </p:txBody>
      </p:sp>
      <p:sp>
        <p:nvSpPr>
          <p:cNvPr id="12" name="Text 10"/>
          <p:cNvSpPr/>
          <p:nvPr/>
        </p:nvSpPr>
        <p:spPr>
          <a:xfrm>
            <a:off x="1572768" y="960120"/>
            <a:ext cx="1828800" cy="274320"/>
          </a:xfrm>
          <a:prstGeom prst="rect">
            <a:avLst/>
          </a:prstGeom>
          <a:noFill/>
          <a:ln/>
        </p:spPr>
        <p:txBody>
          <a:bodyPr wrap="square"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ACTIVITIES</a:t>
            </a:r>
            <a:endParaRPr lang="en-US" sz="750" dirty="0"/>
          </a:p>
        </p:txBody>
      </p:sp>
      <p:sp>
        <p:nvSpPr>
          <p:cNvPr id="13" name="Shape 11"/>
          <p:cNvSpPr/>
          <p:nvPr/>
        </p:nvSpPr>
        <p:spPr>
          <a:xfrm>
            <a:off x="3401568" y="960120"/>
            <a:ext cx="1737360" cy="274320"/>
          </a:xfrm>
          <a:prstGeom prst="rect">
            <a:avLst/>
          </a:prstGeom>
          <a:solidFill>
            <a:srgbClr val="007038"/>
          </a:solidFill>
          <a:ln w="6350">
            <a:solidFill>
              <a:srgbClr val="FFFFFF"/>
            </a:solidFill>
            <a:prstDash val="solid"/>
          </a:ln>
        </p:spPr>
        <p:txBody>
          <a:bodyPr/>
          <a:lstStyle/>
          <a:p>
            <a:endParaRPr lang="en-US"/>
          </a:p>
        </p:txBody>
      </p:sp>
      <p:sp>
        <p:nvSpPr>
          <p:cNvPr id="14" name="Text 12"/>
          <p:cNvSpPr/>
          <p:nvPr/>
        </p:nvSpPr>
        <p:spPr>
          <a:xfrm>
            <a:off x="3401568" y="960120"/>
            <a:ext cx="1737360" cy="274320"/>
          </a:xfrm>
          <a:prstGeom prst="rect">
            <a:avLst/>
          </a:prstGeom>
          <a:noFill/>
          <a:ln/>
        </p:spPr>
        <p:txBody>
          <a:bodyPr wrap="square"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OUTPUTS</a:t>
            </a:r>
            <a:endParaRPr lang="en-US" sz="750" dirty="0"/>
          </a:p>
        </p:txBody>
      </p:sp>
      <p:sp>
        <p:nvSpPr>
          <p:cNvPr id="15" name="Shape 13"/>
          <p:cNvSpPr/>
          <p:nvPr/>
        </p:nvSpPr>
        <p:spPr>
          <a:xfrm>
            <a:off x="5138928" y="960120"/>
            <a:ext cx="1737360" cy="274320"/>
          </a:xfrm>
          <a:prstGeom prst="rect">
            <a:avLst/>
          </a:prstGeom>
          <a:solidFill>
            <a:srgbClr val="2E8B22"/>
          </a:solidFill>
          <a:ln w="6350">
            <a:solidFill>
              <a:srgbClr val="FFFFFF"/>
            </a:solidFill>
            <a:prstDash val="solid"/>
          </a:ln>
        </p:spPr>
        <p:txBody>
          <a:bodyPr/>
          <a:lstStyle/>
          <a:p>
            <a:endParaRPr lang="en-US"/>
          </a:p>
        </p:txBody>
      </p:sp>
      <p:sp>
        <p:nvSpPr>
          <p:cNvPr id="16" name="Text 14"/>
          <p:cNvSpPr/>
          <p:nvPr/>
        </p:nvSpPr>
        <p:spPr>
          <a:xfrm>
            <a:off x="5138928" y="960120"/>
            <a:ext cx="1737360" cy="274320"/>
          </a:xfrm>
          <a:prstGeom prst="rect">
            <a:avLst/>
          </a:prstGeom>
          <a:noFill/>
          <a:ln/>
        </p:spPr>
        <p:txBody>
          <a:bodyPr wrap="square"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SHORT-TERM</a:t>
            </a:r>
            <a:endParaRPr lang="en-US" sz="750" dirty="0"/>
          </a:p>
          <a:p>
            <a:pPr marL="0" indent="0" algn="ctr">
              <a:buNone/>
            </a:pPr>
            <a:r>
              <a:rPr lang="en-US" sz="750" b="1" kern="0" spc="80" dirty="0">
                <a:solidFill>
                  <a:srgbClr val="FFFFFF"/>
                </a:solidFill>
                <a:latin typeface="Calibri" pitchFamily="34" charset="0"/>
                <a:ea typeface="Calibri" pitchFamily="34" charset="-122"/>
                <a:cs typeface="Calibri" pitchFamily="34" charset="-120"/>
              </a:rPr>
              <a:t>OUTCOMES</a:t>
            </a:r>
            <a:endParaRPr lang="en-US" sz="750" dirty="0"/>
          </a:p>
        </p:txBody>
      </p:sp>
      <p:sp>
        <p:nvSpPr>
          <p:cNvPr id="17" name="Shape 15"/>
          <p:cNvSpPr/>
          <p:nvPr/>
        </p:nvSpPr>
        <p:spPr>
          <a:xfrm>
            <a:off x="6876288" y="960120"/>
            <a:ext cx="1737360" cy="274320"/>
          </a:xfrm>
          <a:prstGeom prst="rect">
            <a:avLst/>
          </a:prstGeom>
          <a:solidFill>
            <a:srgbClr val="5E8E1E"/>
          </a:solidFill>
          <a:ln w="6350">
            <a:solidFill>
              <a:srgbClr val="FFFFFF"/>
            </a:solidFill>
            <a:prstDash val="solid"/>
          </a:ln>
        </p:spPr>
        <p:txBody>
          <a:bodyPr/>
          <a:lstStyle/>
          <a:p>
            <a:endParaRPr lang="en-US"/>
          </a:p>
        </p:txBody>
      </p:sp>
      <p:sp>
        <p:nvSpPr>
          <p:cNvPr id="18" name="Text 16"/>
          <p:cNvSpPr/>
          <p:nvPr/>
        </p:nvSpPr>
        <p:spPr>
          <a:xfrm>
            <a:off x="6876288" y="960120"/>
            <a:ext cx="1737360" cy="274320"/>
          </a:xfrm>
          <a:prstGeom prst="rect">
            <a:avLst/>
          </a:prstGeom>
          <a:noFill/>
          <a:ln/>
        </p:spPr>
        <p:txBody>
          <a:bodyPr wrap="square"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INTERMEDIATE</a:t>
            </a:r>
            <a:endParaRPr lang="en-US" sz="750" dirty="0"/>
          </a:p>
          <a:p>
            <a:pPr marL="0" indent="0" algn="ctr">
              <a:buNone/>
            </a:pPr>
            <a:r>
              <a:rPr lang="en-US" sz="750" b="1" kern="0" spc="80" dirty="0">
                <a:solidFill>
                  <a:srgbClr val="FFFFFF"/>
                </a:solidFill>
                <a:latin typeface="Calibri" pitchFamily="34" charset="0"/>
                <a:ea typeface="Calibri" pitchFamily="34" charset="-122"/>
                <a:cs typeface="Calibri" pitchFamily="34" charset="-120"/>
              </a:rPr>
              <a:t>OUTCOMES</a:t>
            </a:r>
            <a:endParaRPr lang="en-US" sz="750" dirty="0"/>
          </a:p>
        </p:txBody>
      </p:sp>
      <p:sp>
        <p:nvSpPr>
          <p:cNvPr id="19" name="Shape 17"/>
          <p:cNvSpPr/>
          <p:nvPr/>
        </p:nvSpPr>
        <p:spPr>
          <a:xfrm>
            <a:off x="8613648" y="960120"/>
            <a:ext cx="1737360" cy="274320"/>
          </a:xfrm>
          <a:prstGeom prst="rect">
            <a:avLst/>
          </a:prstGeom>
          <a:solidFill>
            <a:srgbClr val="4A7018"/>
          </a:solidFill>
          <a:ln w="6350">
            <a:solidFill>
              <a:srgbClr val="FFFFFF"/>
            </a:solidFill>
            <a:prstDash val="solid"/>
          </a:ln>
        </p:spPr>
        <p:txBody>
          <a:bodyPr/>
          <a:lstStyle/>
          <a:p>
            <a:endParaRPr lang="en-US"/>
          </a:p>
        </p:txBody>
      </p:sp>
      <p:sp>
        <p:nvSpPr>
          <p:cNvPr id="20" name="Text 18"/>
          <p:cNvSpPr/>
          <p:nvPr/>
        </p:nvSpPr>
        <p:spPr>
          <a:xfrm>
            <a:off x="8613648" y="960120"/>
            <a:ext cx="1737360" cy="274320"/>
          </a:xfrm>
          <a:prstGeom prst="rect">
            <a:avLst/>
          </a:prstGeom>
          <a:noFill/>
          <a:ln/>
        </p:spPr>
        <p:txBody>
          <a:bodyPr wrap="square"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LONG-TERM</a:t>
            </a:r>
            <a:endParaRPr lang="en-US" sz="750" dirty="0"/>
          </a:p>
          <a:p>
            <a:pPr marL="0" indent="0" algn="ctr">
              <a:buNone/>
            </a:pPr>
            <a:r>
              <a:rPr lang="en-US" sz="750" b="1" kern="0" spc="80" dirty="0">
                <a:solidFill>
                  <a:srgbClr val="FFFFFF"/>
                </a:solidFill>
                <a:latin typeface="Calibri" pitchFamily="34" charset="0"/>
                <a:ea typeface="Calibri" pitchFamily="34" charset="-122"/>
                <a:cs typeface="Calibri" pitchFamily="34" charset="-120"/>
              </a:rPr>
              <a:t>OUTCOMES</a:t>
            </a:r>
            <a:endParaRPr lang="en-US" sz="750" dirty="0"/>
          </a:p>
        </p:txBody>
      </p:sp>
      <p:sp>
        <p:nvSpPr>
          <p:cNvPr id="21" name="Shape 19"/>
          <p:cNvSpPr/>
          <p:nvPr/>
        </p:nvSpPr>
        <p:spPr>
          <a:xfrm>
            <a:off x="10351008" y="960120"/>
            <a:ext cx="1810512" cy="274320"/>
          </a:xfrm>
          <a:prstGeom prst="rect">
            <a:avLst/>
          </a:prstGeom>
          <a:solidFill>
            <a:srgbClr val="003C1E"/>
          </a:solidFill>
          <a:ln w="6350">
            <a:solidFill>
              <a:srgbClr val="FFFFFF"/>
            </a:solidFill>
            <a:prstDash val="solid"/>
          </a:ln>
        </p:spPr>
        <p:txBody>
          <a:bodyPr/>
          <a:lstStyle/>
          <a:p>
            <a:endParaRPr lang="en-US"/>
          </a:p>
        </p:txBody>
      </p:sp>
      <p:sp>
        <p:nvSpPr>
          <p:cNvPr id="22" name="Text 20"/>
          <p:cNvSpPr/>
          <p:nvPr/>
        </p:nvSpPr>
        <p:spPr>
          <a:xfrm>
            <a:off x="10351008" y="960120"/>
            <a:ext cx="1810512" cy="274320"/>
          </a:xfrm>
          <a:prstGeom prst="rect">
            <a:avLst/>
          </a:prstGeom>
          <a:noFill/>
          <a:ln/>
        </p:spPr>
        <p:txBody>
          <a:bodyPr wrap="square" rtlCol="0" anchor="ctr"/>
          <a:lstStyle/>
          <a:p>
            <a:pPr marL="0" indent="0" algn="ctr">
              <a:buNone/>
            </a:pPr>
            <a:r>
              <a:rPr lang="en-US" sz="750" b="1" kern="0" spc="80" dirty="0">
                <a:solidFill>
                  <a:srgbClr val="FFFFFF"/>
                </a:solidFill>
                <a:latin typeface="Calibri" pitchFamily="34" charset="0"/>
                <a:ea typeface="Calibri" pitchFamily="34" charset="-122"/>
                <a:cs typeface="Calibri" pitchFamily="34" charset="-120"/>
              </a:rPr>
              <a:t>IMPACT</a:t>
            </a:r>
            <a:endParaRPr lang="en-US" sz="750" dirty="0"/>
          </a:p>
        </p:txBody>
      </p:sp>
      <p:sp>
        <p:nvSpPr>
          <p:cNvPr id="23" name="Shape 21"/>
          <p:cNvSpPr/>
          <p:nvPr/>
        </p:nvSpPr>
        <p:spPr>
          <a:xfrm>
            <a:off x="0" y="1234440"/>
            <a:ext cx="1572768" cy="5001768"/>
          </a:xfrm>
          <a:prstGeom prst="rect">
            <a:avLst/>
          </a:prstGeom>
          <a:solidFill>
            <a:srgbClr val="F2F9EC"/>
          </a:solidFill>
          <a:ln w="6350">
            <a:solidFill>
              <a:srgbClr val="C8DFB0"/>
            </a:solidFill>
            <a:prstDash val="solid"/>
          </a:ln>
        </p:spPr>
        <p:txBody>
          <a:bodyPr/>
          <a:lstStyle/>
          <a:p>
            <a:endParaRPr lang="en-US"/>
          </a:p>
        </p:txBody>
      </p:sp>
      <p:sp>
        <p:nvSpPr>
          <p:cNvPr id="24" name="Shape 22"/>
          <p:cNvSpPr/>
          <p:nvPr/>
        </p:nvSpPr>
        <p:spPr>
          <a:xfrm>
            <a:off x="1572768" y="1234440"/>
            <a:ext cx="1828800" cy="5001768"/>
          </a:xfrm>
          <a:prstGeom prst="rect">
            <a:avLst/>
          </a:prstGeom>
          <a:solidFill>
            <a:srgbClr val="EBF5DA"/>
          </a:solidFill>
          <a:ln w="6350">
            <a:solidFill>
              <a:srgbClr val="C8DFB0"/>
            </a:solidFill>
            <a:prstDash val="solid"/>
          </a:ln>
        </p:spPr>
        <p:txBody>
          <a:bodyPr/>
          <a:lstStyle/>
          <a:p>
            <a:endParaRPr lang="en-US"/>
          </a:p>
        </p:txBody>
      </p:sp>
      <p:sp>
        <p:nvSpPr>
          <p:cNvPr id="25" name="Shape 23"/>
          <p:cNvSpPr/>
          <p:nvPr/>
        </p:nvSpPr>
        <p:spPr>
          <a:xfrm>
            <a:off x="3401568" y="1234440"/>
            <a:ext cx="1737360" cy="5001768"/>
          </a:xfrm>
          <a:prstGeom prst="rect">
            <a:avLst/>
          </a:prstGeom>
          <a:solidFill>
            <a:srgbClr val="F5FBF0"/>
          </a:solidFill>
          <a:ln w="6350">
            <a:solidFill>
              <a:srgbClr val="C8DFB0"/>
            </a:solidFill>
            <a:prstDash val="solid"/>
          </a:ln>
        </p:spPr>
        <p:txBody>
          <a:bodyPr/>
          <a:lstStyle/>
          <a:p>
            <a:endParaRPr lang="en-US"/>
          </a:p>
        </p:txBody>
      </p:sp>
      <p:sp>
        <p:nvSpPr>
          <p:cNvPr id="26" name="Shape 24"/>
          <p:cNvSpPr/>
          <p:nvPr/>
        </p:nvSpPr>
        <p:spPr>
          <a:xfrm>
            <a:off x="5138928" y="1234440"/>
            <a:ext cx="1737360" cy="5001768"/>
          </a:xfrm>
          <a:prstGeom prst="rect">
            <a:avLst/>
          </a:prstGeom>
          <a:solidFill>
            <a:srgbClr val="F0F8E8"/>
          </a:solidFill>
          <a:ln w="6350">
            <a:solidFill>
              <a:srgbClr val="C8DFB0"/>
            </a:solidFill>
            <a:prstDash val="solid"/>
          </a:ln>
        </p:spPr>
        <p:txBody>
          <a:bodyPr/>
          <a:lstStyle/>
          <a:p>
            <a:endParaRPr lang="en-US"/>
          </a:p>
        </p:txBody>
      </p:sp>
      <p:sp>
        <p:nvSpPr>
          <p:cNvPr id="27" name="Shape 25"/>
          <p:cNvSpPr/>
          <p:nvPr/>
        </p:nvSpPr>
        <p:spPr>
          <a:xfrm>
            <a:off x="6876288" y="1234440"/>
            <a:ext cx="1737360" cy="5001768"/>
          </a:xfrm>
          <a:prstGeom prst="rect">
            <a:avLst/>
          </a:prstGeom>
          <a:solidFill>
            <a:srgbClr val="E8F4DF"/>
          </a:solidFill>
          <a:ln w="6350">
            <a:solidFill>
              <a:srgbClr val="C8DFB0"/>
            </a:solidFill>
            <a:prstDash val="solid"/>
          </a:ln>
        </p:spPr>
        <p:txBody>
          <a:bodyPr/>
          <a:lstStyle/>
          <a:p>
            <a:endParaRPr lang="en-US"/>
          </a:p>
        </p:txBody>
      </p:sp>
      <p:sp>
        <p:nvSpPr>
          <p:cNvPr id="28" name="Shape 26"/>
          <p:cNvSpPr/>
          <p:nvPr/>
        </p:nvSpPr>
        <p:spPr>
          <a:xfrm>
            <a:off x="8613648" y="1234440"/>
            <a:ext cx="1737360" cy="5001768"/>
          </a:xfrm>
          <a:prstGeom prst="rect">
            <a:avLst/>
          </a:prstGeom>
          <a:solidFill>
            <a:srgbClr val="E0EFD5"/>
          </a:solidFill>
          <a:ln w="6350">
            <a:solidFill>
              <a:srgbClr val="C8DFB0"/>
            </a:solidFill>
            <a:prstDash val="solid"/>
          </a:ln>
        </p:spPr>
        <p:txBody>
          <a:bodyPr/>
          <a:lstStyle/>
          <a:p>
            <a:endParaRPr lang="en-US"/>
          </a:p>
        </p:txBody>
      </p:sp>
      <p:sp>
        <p:nvSpPr>
          <p:cNvPr id="29" name="Shape 27"/>
          <p:cNvSpPr/>
          <p:nvPr/>
        </p:nvSpPr>
        <p:spPr>
          <a:xfrm>
            <a:off x="10351008" y="1234440"/>
            <a:ext cx="1810512" cy="5001768"/>
          </a:xfrm>
          <a:prstGeom prst="rect">
            <a:avLst/>
          </a:prstGeom>
          <a:solidFill>
            <a:srgbClr val="003C1E"/>
          </a:solidFill>
          <a:ln w="6350">
            <a:solidFill>
              <a:srgbClr val="C8DFB0"/>
            </a:solidFill>
            <a:prstDash val="solid"/>
          </a:ln>
        </p:spPr>
        <p:txBody>
          <a:bodyPr/>
          <a:lstStyle/>
          <a:p>
            <a:endParaRPr lang="en-US"/>
          </a:p>
        </p:txBody>
      </p:sp>
      <p:sp>
        <p:nvSpPr>
          <p:cNvPr id="30" name="Shape 28"/>
          <p:cNvSpPr/>
          <p:nvPr/>
        </p:nvSpPr>
        <p:spPr>
          <a:xfrm>
            <a:off x="1572768" y="1234440"/>
            <a:ext cx="45720" cy="5001768"/>
          </a:xfrm>
          <a:prstGeom prst="rect">
            <a:avLst/>
          </a:prstGeom>
          <a:solidFill>
            <a:srgbClr val="78B428"/>
          </a:solidFill>
          <a:ln w="12700">
            <a:solidFill>
              <a:srgbClr val="78B428"/>
            </a:solidFill>
            <a:prstDash val="solid"/>
          </a:ln>
        </p:spPr>
        <p:txBody>
          <a:bodyPr/>
          <a:lstStyle/>
          <a:p>
            <a:endParaRPr lang="en-US"/>
          </a:p>
        </p:txBody>
      </p:sp>
      <p:sp>
        <p:nvSpPr>
          <p:cNvPr id="31" name="Shape 29"/>
          <p:cNvSpPr/>
          <p:nvPr/>
        </p:nvSpPr>
        <p:spPr>
          <a:xfrm>
            <a:off x="3401568" y="1234440"/>
            <a:ext cx="36576" cy="5001768"/>
          </a:xfrm>
          <a:prstGeom prst="rect">
            <a:avLst/>
          </a:prstGeom>
          <a:solidFill>
            <a:srgbClr val="5E8E1E"/>
          </a:solidFill>
          <a:ln w="12700">
            <a:solidFill>
              <a:srgbClr val="5E8E1E"/>
            </a:solidFill>
            <a:prstDash val="solid"/>
          </a:ln>
        </p:spPr>
        <p:txBody>
          <a:bodyPr/>
          <a:lstStyle/>
          <a:p>
            <a:endParaRPr lang="en-US"/>
          </a:p>
        </p:txBody>
      </p:sp>
      <p:sp>
        <p:nvSpPr>
          <p:cNvPr id="32" name="Shape 30"/>
          <p:cNvSpPr/>
          <p:nvPr/>
        </p:nvSpPr>
        <p:spPr>
          <a:xfrm>
            <a:off x="5138928" y="1234440"/>
            <a:ext cx="36576" cy="5001768"/>
          </a:xfrm>
          <a:prstGeom prst="rect">
            <a:avLst/>
          </a:prstGeom>
          <a:solidFill>
            <a:srgbClr val="78B428"/>
          </a:solidFill>
          <a:ln w="12700">
            <a:solidFill>
              <a:srgbClr val="78B428"/>
            </a:solidFill>
            <a:prstDash val="solid"/>
          </a:ln>
        </p:spPr>
        <p:txBody>
          <a:bodyPr/>
          <a:lstStyle/>
          <a:p>
            <a:endParaRPr lang="en-US"/>
          </a:p>
        </p:txBody>
      </p:sp>
      <p:sp>
        <p:nvSpPr>
          <p:cNvPr id="33" name="Shape 31"/>
          <p:cNvSpPr/>
          <p:nvPr/>
        </p:nvSpPr>
        <p:spPr>
          <a:xfrm>
            <a:off x="100584" y="1316736"/>
            <a:ext cx="1371600" cy="150876"/>
          </a:xfrm>
          <a:prstGeom prst="rect">
            <a:avLst/>
          </a:prstGeom>
          <a:solidFill>
            <a:srgbClr val="00783C"/>
          </a:solidFill>
          <a:ln w="12700">
            <a:solidFill>
              <a:srgbClr val="00783C"/>
            </a:solidFill>
            <a:prstDash val="solid"/>
          </a:ln>
        </p:spPr>
        <p:txBody>
          <a:bodyPr/>
          <a:lstStyle/>
          <a:p>
            <a:endParaRPr lang="en-US"/>
          </a:p>
        </p:txBody>
      </p:sp>
      <p:sp>
        <p:nvSpPr>
          <p:cNvPr id="34" name="Text 32"/>
          <p:cNvSpPr/>
          <p:nvPr/>
        </p:nvSpPr>
        <p:spPr>
          <a:xfrm>
            <a:off x="100584" y="1316736"/>
            <a:ext cx="1371600" cy="150876"/>
          </a:xfrm>
          <a:prstGeom prst="rect">
            <a:avLst/>
          </a:prstGeom>
          <a:noFill/>
          <a:ln/>
        </p:spPr>
        <p:txBody>
          <a:bodyPr wrap="square" lIns="0" tIns="50800" rIns="50800" bIns="0" rtlCol="0" anchor="ctr"/>
          <a:lstStyle/>
          <a:p>
            <a:pPr marL="0" indent="0" algn="l">
              <a:buNone/>
            </a:pPr>
            <a:r>
              <a:rPr lang="en-US" sz="650" b="1" kern="0" spc="40" dirty="0">
                <a:solidFill>
                  <a:srgbClr val="FFFFFF"/>
                </a:solidFill>
                <a:latin typeface="Calibri" pitchFamily="34" charset="0"/>
                <a:ea typeface="Calibri" pitchFamily="34" charset="-122"/>
                <a:cs typeface="Calibri" pitchFamily="34" charset="-120"/>
              </a:rPr>
              <a:t>FINANCIAL</a:t>
            </a:r>
            <a:endParaRPr lang="en-US" sz="650" dirty="0"/>
          </a:p>
        </p:txBody>
      </p:sp>
      <p:sp>
        <p:nvSpPr>
          <p:cNvPr id="35" name="Text 33"/>
          <p:cNvSpPr/>
          <p:nvPr/>
        </p:nvSpPr>
        <p:spPr>
          <a:xfrm>
            <a:off x="118872" y="1467612"/>
            <a:ext cx="1417320" cy="433426"/>
          </a:xfrm>
          <a:prstGeom prst="rect">
            <a:avLst/>
          </a:prstGeom>
          <a:noFill/>
          <a:ln/>
        </p:spPr>
        <p:txBody>
          <a:bodyPr wrap="square" lIns="0" tIns="25400" rIns="25400" bIns="0" rtlCol="0" anchor="t"/>
          <a:lstStyle/>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Private grants &amp; philanthropic donations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Ogun State govt &amp; institutional co-funding</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Teach For All network &amp; in-kind support</a:t>
            </a:r>
            <a:endParaRPr lang="en-US" sz="610" dirty="0"/>
          </a:p>
        </p:txBody>
      </p:sp>
      <p:sp>
        <p:nvSpPr>
          <p:cNvPr id="36" name="Shape 34"/>
          <p:cNvSpPr/>
          <p:nvPr/>
        </p:nvSpPr>
        <p:spPr>
          <a:xfrm>
            <a:off x="100584" y="1965046"/>
            <a:ext cx="1371600" cy="150876"/>
          </a:xfrm>
          <a:prstGeom prst="rect">
            <a:avLst/>
          </a:prstGeom>
          <a:solidFill>
            <a:srgbClr val="00783C"/>
          </a:solidFill>
          <a:ln w="12700">
            <a:solidFill>
              <a:srgbClr val="00783C"/>
            </a:solidFill>
            <a:prstDash val="solid"/>
          </a:ln>
        </p:spPr>
        <p:txBody>
          <a:bodyPr/>
          <a:lstStyle/>
          <a:p>
            <a:endParaRPr lang="en-US"/>
          </a:p>
        </p:txBody>
      </p:sp>
      <p:sp>
        <p:nvSpPr>
          <p:cNvPr id="37" name="Text 35"/>
          <p:cNvSpPr/>
          <p:nvPr/>
        </p:nvSpPr>
        <p:spPr>
          <a:xfrm>
            <a:off x="100584" y="1965046"/>
            <a:ext cx="1371600" cy="150876"/>
          </a:xfrm>
          <a:prstGeom prst="rect">
            <a:avLst/>
          </a:prstGeom>
          <a:noFill/>
          <a:ln/>
        </p:spPr>
        <p:txBody>
          <a:bodyPr wrap="square" lIns="0" tIns="50800" rIns="50800" bIns="0" rtlCol="0" anchor="ctr"/>
          <a:lstStyle/>
          <a:p>
            <a:pPr marL="0" indent="0" algn="l">
              <a:buNone/>
            </a:pPr>
            <a:r>
              <a:rPr lang="en-US" sz="650" b="1" kern="0" spc="40" dirty="0">
                <a:solidFill>
                  <a:srgbClr val="FFFFFF"/>
                </a:solidFill>
                <a:latin typeface="Calibri" pitchFamily="34" charset="0"/>
                <a:ea typeface="Calibri" pitchFamily="34" charset="-122"/>
                <a:cs typeface="Calibri" pitchFamily="34" charset="-120"/>
              </a:rPr>
              <a:t>HUMAN</a:t>
            </a:r>
            <a:endParaRPr lang="en-US" sz="650" dirty="0"/>
          </a:p>
        </p:txBody>
      </p:sp>
      <p:sp>
        <p:nvSpPr>
          <p:cNvPr id="38" name="Text 36"/>
          <p:cNvSpPr/>
          <p:nvPr/>
        </p:nvSpPr>
        <p:spPr>
          <a:xfrm>
            <a:off x="118872" y="2115922"/>
            <a:ext cx="1417320" cy="1155802"/>
          </a:xfrm>
          <a:prstGeom prst="rect">
            <a:avLst/>
          </a:prstGeom>
          <a:noFill/>
          <a:ln/>
        </p:spPr>
        <p:txBody>
          <a:bodyPr wrap="square" lIns="0" tIns="25400" rIns="25400" bIns="0" rtlCol="0" anchor="t"/>
          <a:lstStyle/>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TFN coaches, trainers &amp; recruitment staff</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Alumni relations &amp; engagement staff</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Host school principals &amp; administrators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Ogun State community partners &amp; local stakeholders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Teach For All global network partners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University &amp; research partners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TFN fellows (participants)</a:t>
            </a:r>
            <a:endParaRPr lang="en-US" sz="610" dirty="0"/>
          </a:p>
        </p:txBody>
      </p:sp>
      <p:sp>
        <p:nvSpPr>
          <p:cNvPr id="39" name="Shape 37"/>
          <p:cNvSpPr/>
          <p:nvPr/>
        </p:nvSpPr>
        <p:spPr>
          <a:xfrm>
            <a:off x="100584" y="3465183"/>
            <a:ext cx="1371600" cy="150876"/>
          </a:xfrm>
          <a:prstGeom prst="rect">
            <a:avLst/>
          </a:prstGeom>
          <a:solidFill>
            <a:srgbClr val="00783C"/>
          </a:solidFill>
          <a:ln w="12700">
            <a:solidFill>
              <a:srgbClr val="00783C"/>
            </a:solidFill>
            <a:prstDash val="solid"/>
          </a:ln>
        </p:spPr>
        <p:txBody>
          <a:bodyPr/>
          <a:lstStyle/>
          <a:p>
            <a:endParaRPr lang="en-US"/>
          </a:p>
        </p:txBody>
      </p:sp>
      <p:sp>
        <p:nvSpPr>
          <p:cNvPr id="40" name="Text 38"/>
          <p:cNvSpPr/>
          <p:nvPr/>
        </p:nvSpPr>
        <p:spPr>
          <a:xfrm>
            <a:off x="126755" y="3450645"/>
            <a:ext cx="1371600" cy="150876"/>
          </a:xfrm>
          <a:prstGeom prst="rect">
            <a:avLst/>
          </a:prstGeom>
          <a:noFill/>
          <a:ln/>
        </p:spPr>
        <p:txBody>
          <a:bodyPr wrap="square" lIns="0" tIns="50800" rIns="50800" bIns="0" rtlCol="0" anchor="ctr"/>
          <a:lstStyle/>
          <a:p>
            <a:pPr marL="0" indent="0" algn="l">
              <a:buNone/>
            </a:pPr>
            <a:r>
              <a:rPr lang="en-US" sz="650" b="1" kern="0" spc="40" dirty="0">
                <a:solidFill>
                  <a:srgbClr val="FFFFFF"/>
                </a:solidFill>
                <a:latin typeface="Calibri" pitchFamily="34" charset="0"/>
                <a:ea typeface="Calibri" pitchFamily="34" charset="-122"/>
                <a:cs typeface="Calibri" pitchFamily="34" charset="-120"/>
              </a:rPr>
              <a:t>MATERIAL &amp; PHYSICAL</a:t>
            </a:r>
            <a:endParaRPr lang="en-US" sz="650" dirty="0"/>
          </a:p>
        </p:txBody>
      </p:sp>
      <p:sp>
        <p:nvSpPr>
          <p:cNvPr id="41" name="Text 39"/>
          <p:cNvSpPr/>
          <p:nvPr/>
        </p:nvSpPr>
        <p:spPr>
          <a:xfrm>
            <a:off x="93726" y="3641630"/>
            <a:ext cx="1417320" cy="722376"/>
          </a:xfrm>
          <a:prstGeom prst="rect">
            <a:avLst/>
          </a:prstGeom>
          <a:noFill/>
          <a:ln/>
        </p:spPr>
        <p:txBody>
          <a:bodyPr wrap="square" lIns="0" tIns="25400" rIns="25400" bIns="0" rtlCol="0" anchor="t"/>
          <a:lstStyle/>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School facilities in Ogun State</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Training venues &amp; instructional materials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Digital platforms &amp; communication tools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National curriculum resources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Alumni database &amp; CRM systems</a:t>
            </a:r>
            <a:endParaRPr lang="en-US" sz="610" dirty="0"/>
          </a:p>
        </p:txBody>
      </p:sp>
      <p:sp>
        <p:nvSpPr>
          <p:cNvPr id="42" name="Shape 40"/>
          <p:cNvSpPr/>
          <p:nvPr/>
        </p:nvSpPr>
        <p:spPr>
          <a:xfrm>
            <a:off x="82296" y="4449438"/>
            <a:ext cx="1371600" cy="150876"/>
          </a:xfrm>
          <a:prstGeom prst="rect">
            <a:avLst/>
          </a:prstGeom>
          <a:solidFill>
            <a:srgbClr val="00783C"/>
          </a:solidFill>
          <a:ln w="12700">
            <a:solidFill>
              <a:srgbClr val="00783C"/>
            </a:solidFill>
            <a:prstDash val="solid"/>
          </a:ln>
        </p:spPr>
        <p:txBody>
          <a:bodyPr/>
          <a:lstStyle/>
          <a:p>
            <a:endParaRPr lang="en-US"/>
          </a:p>
        </p:txBody>
      </p:sp>
      <p:sp>
        <p:nvSpPr>
          <p:cNvPr id="43" name="Text 41"/>
          <p:cNvSpPr/>
          <p:nvPr/>
        </p:nvSpPr>
        <p:spPr>
          <a:xfrm>
            <a:off x="100584" y="4449438"/>
            <a:ext cx="1371600" cy="150876"/>
          </a:xfrm>
          <a:prstGeom prst="rect">
            <a:avLst/>
          </a:prstGeom>
          <a:noFill/>
          <a:ln/>
        </p:spPr>
        <p:txBody>
          <a:bodyPr wrap="square" lIns="0" tIns="50800" rIns="50800" bIns="0" rtlCol="0" anchor="ctr"/>
          <a:lstStyle/>
          <a:p>
            <a:pPr marL="0" indent="0" algn="l">
              <a:buNone/>
            </a:pPr>
            <a:r>
              <a:rPr lang="en-US" sz="650" b="1" kern="0" spc="40" dirty="0">
                <a:solidFill>
                  <a:srgbClr val="FFFFFF"/>
                </a:solidFill>
                <a:latin typeface="Calibri" pitchFamily="34" charset="0"/>
                <a:ea typeface="Calibri" pitchFamily="34" charset="-122"/>
                <a:cs typeface="Calibri" pitchFamily="34" charset="-120"/>
              </a:rPr>
              <a:t>KNOWLEDGE</a:t>
            </a:r>
            <a:endParaRPr lang="en-US" sz="650" dirty="0"/>
          </a:p>
        </p:txBody>
      </p:sp>
      <p:sp>
        <p:nvSpPr>
          <p:cNvPr id="44" name="Text 42"/>
          <p:cNvSpPr/>
          <p:nvPr/>
        </p:nvSpPr>
        <p:spPr>
          <a:xfrm>
            <a:off x="118872" y="4625885"/>
            <a:ext cx="1417320" cy="577901"/>
          </a:xfrm>
          <a:prstGeom prst="rect">
            <a:avLst/>
          </a:prstGeom>
          <a:noFill/>
          <a:ln/>
        </p:spPr>
        <p:txBody>
          <a:bodyPr wrap="square" lIns="0" tIns="25400" rIns="25400" bIns="0" rtlCol="0" anchor="t"/>
          <a:lstStyle/>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Teach For All model &amp; global best practices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RAND evaluation findings (2024)</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Structured pedagogy &amp; TaRL research evidence</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Ogun State education context &amp; community dynamics</a:t>
            </a:r>
            <a:endParaRPr lang="en-US" sz="610" dirty="0"/>
          </a:p>
        </p:txBody>
      </p:sp>
      <p:sp>
        <p:nvSpPr>
          <p:cNvPr id="45" name="Text 43"/>
          <p:cNvSpPr/>
          <p:nvPr/>
        </p:nvSpPr>
        <p:spPr>
          <a:xfrm>
            <a:off x="1673352" y="1316736"/>
            <a:ext cx="1700784" cy="160020"/>
          </a:xfrm>
          <a:prstGeom prst="rect">
            <a:avLst/>
          </a:prstGeom>
          <a:noFill/>
          <a:ln/>
        </p:spPr>
        <p:txBody>
          <a:bodyPr wrap="square" lIns="0" tIns="25400" rIns="25400" bIns="0" rtlCol="0" anchor="ctr"/>
          <a:lstStyle/>
          <a:p>
            <a:pPr marL="0" indent="0">
              <a:buNone/>
            </a:pPr>
            <a:r>
              <a:rPr lang="en-US" sz="660" b="1" dirty="0">
                <a:solidFill>
                  <a:srgbClr val="005A2C"/>
                </a:solidFill>
                <a:latin typeface="Calibri" pitchFamily="34" charset="0"/>
                <a:ea typeface="Calibri" pitchFamily="34" charset="-122"/>
                <a:cs typeface="Calibri" pitchFamily="34" charset="-120"/>
              </a:rPr>
              <a:t>1.  Recruitment &amp; Selection</a:t>
            </a:r>
            <a:endParaRPr lang="en-US" sz="660" dirty="0"/>
          </a:p>
        </p:txBody>
      </p:sp>
      <p:sp>
        <p:nvSpPr>
          <p:cNvPr id="46" name="Text 44"/>
          <p:cNvSpPr/>
          <p:nvPr/>
        </p:nvSpPr>
        <p:spPr>
          <a:xfrm>
            <a:off x="1673352" y="1476756"/>
            <a:ext cx="1700784" cy="283464"/>
          </a:xfrm>
          <a:prstGeom prst="rect">
            <a:avLst/>
          </a:prstGeom>
          <a:noFill/>
          <a:ln/>
        </p:spPr>
        <p:txBody>
          <a:bodyPr wrap="square" lIns="0" tIns="25400" rIns="25400" bIns="0" rtlCol="0" anchor="t"/>
          <a:lstStyle/>
          <a:p>
            <a:pPr marL="342900" indent="-342900">
              <a:buSzPct val="100000"/>
              <a:buChar char="•"/>
            </a:pPr>
            <a:r>
              <a:rPr lang="en-US" sz="700" dirty="0">
                <a:solidFill>
                  <a:srgbClr val="1C1C1C"/>
                </a:solidFill>
                <a:latin typeface="Calibri" pitchFamily="34" charset="0"/>
                <a:ea typeface="Calibri" pitchFamily="34" charset="-122"/>
                <a:cs typeface="Calibri" pitchFamily="34" charset="-120"/>
              </a:rPr>
              <a:t>Develop &amp; execute targeted outreach campaigns at universities, professional networks &amp; online platforms</a:t>
            </a:r>
            <a:endParaRPr lang="en-US" sz="700" dirty="0"/>
          </a:p>
          <a:p>
            <a:pPr marL="342900" indent="-342900">
              <a:buSzPct val="100000"/>
              <a:buChar char="•"/>
            </a:pPr>
            <a:r>
              <a:rPr lang="en-US" sz="700" dirty="0">
                <a:solidFill>
                  <a:srgbClr val="1C1C1C"/>
                </a:solidFill>
                <a:latin typeface="Calibri" pitchFamily="34" charset="0"/>
                <a:ea typeface="Calibri" pitchFamily="34" charset="-122"/>
                <a:cs typeface="Calibri" pitchFamily="34" charset="-120"/>
              </a:rPr>
              <a:t>Conduct multi-stage screening, interviews &amp; leadership potential assessments</a:t>
            </a:r>
            <a:endParaRPr lang="en-US" sz="700" dirty="0"/>
          </a:p>
        </p:txBody>
      </p:sp>
      <p:sp>
        <p:nvSpPr>
          <p:cNvPr id="47" name="Text 45"/>
          <p:cNvSpPr/>
          <p:nvPr/>
        </p:nvSpPr>
        <p:spPr>
          <a:xfrm>
            <a:off x="1677924" y="2293349"/>
            <a:ext cx="1700784" cy="160020"/>
          </a:xfrm>
          <a:prstGeom prst="rect">
            <a:avLst/>
          </a:prstGeom>
          <a:noFill/>
          <a:ln/>
        </p:spPr>
        <p:txBody>
          <a:bodyPr wrap="square" lIns="0" tIns="25400" rIns="25400" bIns="0" rtlCol="0" anchor="ctr"/>
          <a:lstStyle/>
          <a:p>
            <a:pPr marL="0" indent="0">
              <a:buNone/>
            </a:pPr>
            <a:r>
              <a:rPr lang="en-US" sz="660" b="1" dirty="0">
                <a:solidFill>
                  <a:srgbClr val="005A2C"/>
                </a:solidFill>
                <a:latin typeface="Calibri" pitchFamily="34" charset="0"/>
                <a:ea typeface="Calibri" pitchFamily="34" charset="-122"/>
                <a:cs typeface="Calibri" pitchFamily="34" charset="-120"/>
              </a:rPr>
              <a:t>2.  Pre-Service Training</a:t>
            </a:r>
            <a:endParaRPr lang="en-US" sz="660" dirty="0"/>
          </a:p>
        </p:txBody>
      </p:sp>
      <p:sp>
        <p:nvSpPr>
          <p:cNvPr id="48" name="Text 46"/>
          <p:cNvSpPr/>
          <p:nvPr/>
        </p:nvSpPr>
        <p:spPr>
          <a:xfrm>
            <a:off x="1650492" y="2478416"/>
            <a:ext cx="1700784" cy="283464"/>
          </a:xfrm>
          <a:prstGeom prst="rect">
            <a:avLst/>
          </a:prstGeom>
          <a:noFill/>
          <a:ln/>
        </p:spPr>
        <p:txBody>
          <a:bodyPr wrap="square" lIns="0" tIns="25400" rIns="25400" bIns="0" rtlCol="0" anchor="t"/>
          <a:lstStyle/>
          <a:p>
            <a:pPr marL="342900" indent="-342900">
              <a:buSzPct val="100000"/>
              <a:buChar char="•"/>
            </a:pPr>
            <a:r>
              <a:rPr lang="en-US" sz="600" dirty="0">
                <a:solidFill>
                  <a:srgbClr val="1C1C1C"/>
                </a:solidFill>
                <a:latin typeface="Calibri" pitchFamily="34" charset="0"/>
                <a:ea typeface="Calibri" pitchFamily="34" charset="-122"/>
                <a:cs typeface="Calibri" pitchFamily="34" charset="-120"/>
              </a:rPr>
              <a:t>Deliver 6-week intensive training: pedagogy, classroom management, formative assessment &amp; leadership</a:t>
            </a:r>
            <a:endParaRPr lang="en-US" sz="600" dirty="0"/>
          </a:p>
          <a:p>
            <a:pPr marL="342900" indent="-342900">
              <a:buSzPct val="100000"/>
              <a:buChar char="•"/>
            </a:pPr>
            <a:r>
              <a:rPr lang="en-US" sz="600" dirty="0">
                <a:solidFill>
                  <a:srgbClr val="1C1C1C"/>
                </a:solidFill>
                <a:latin typeface="Calibri" pitchFamily="34" charset="0"/>
                <a:ea typeface="Calibri" pitchFamily="34" charset="-122"/>
                <a:cs typeface="Calibri" pitchFamily="34" charset="-120"/>
              </a:rPr>
              <a:t>Orient fellows to national curriculum, Ogun State contexts &amp; TFN's mission &amp; expectations</a:t>
            </a:r>
            <a:endParaRPr lang="en-US" sz="600" dirty="0"/>
          </a:p>
        </p:txBody>
      </p:sp>
      <p:sp>
        <p:nvSpPr>
          <p:cNvPr id="49" name="Text 47"/>
          <p:cNvSpPr/>
          <p:nvPr/>
        </p:nvSpPr>
        <p:spPr>
          <a:xfrm>
            <a:off x="1663578" y="3090954"/>
            <a:ext cx="1700784" cy="160020"/>
          </a:xfrm>
          <a:prstGeom prst="rect">
            <a:avLst/>
          </a:prstGeom>
          <a:noFill/>
          <a:ln/>
        </p:spPr>
        <p:txBody>
          <a:bodyPr wrap="square" lIns="0" tIns="25400" rIns="25400" bIns="0" rtlCol="0" anchor="ctr"/>
          <a:lstStyle/>
          <a:p>
            <a:pPr marL="0" indent="0">
              <a:buNone/>
            </a:pPr>
            <a:r>
              <a:rPr lang="en-US" sz="660" b="1" dirty="0">
                <a:solidFill>
                  <a:srgbClr val="005A2C"/>
                </a:solidFill>
                <a:latin typeface="Calibri" pitchFamily="34" charset="0"/>
                <a:ea typeface="Calibri" pitchFamily="34" charset="-122"/>
                <a:cs typeface="Calibri" pitchFamily="34" charset="-120"/>
              </a:rPr>
              <a:t>3.  School Placement &amp; Teaching</a:t>
            </a:r>
            <a:endParaRPr lang="en-US" sz="660" dirty="0"/>
          </a:p>
        </p:txBody>
      </p:sp>
      <p:sp>
        <p:nvSpPr>
          <p:cNvPr id="50" name="Text 48"/>
          <p:cNvSpPr/>
          <p:nvPr/>
        </p:nvSpPr>
        <p:spPr>
          <a:xfrm>
            <a:off x="1636776" y="3242308"/>
            <a:ext cx="1700784" cy="283464"/>
          </a:xfrm>
          <a:prstGeom prst="rect">
            <a:avLst/>
          </a:prstGeom>
          <a:noFill/>
          <a:ln/>
        </p:spPr>
        <p:txBody>
          <a:bodyPr wrap="square" lIns="0" tIns="25400" rIns="25400" bIns="0" rtlCol="0" anchor="t"/>
          <a:lstStyle/>
          <a:p>
            <a:pPr marL="342900" indent="-342900">
              <a:buSzPct val="100000"/>
              <a:buChar char="•"/>
            </a:pPr>
            <a:r>
              <a:rPr lang="en-US" sz="600" dirty="0">
                <a:solidFill>
                  <a:srgbClr val="1C1C1C"/>
                </a:solidFill>
                <a:latin typeface="Calibri" pitchFamily="34" charset="0"/>
                <a:ea typeface="Calibri" pitchFamily="34" charset="-122"/>
                <a:cs typeface="Calibri" pitchFamily="34" charset="-120"/>
              </a:rPr>
              <a:t>Deploy fellows as full-time, paid teachers in under-resourced primary &amp; secondary schools</a:t>
            </a:r>
            <a:endParaRPr lang="en-US" sz="600" dirty="0"/>
          </a:p>
          <a:p>
            <a:pPr marL="342900" indent="-342900">
              <a:buSzPct val="100000"/>
              <a:buChar char="•"/>
            </a:pPr>
            <a:r>
              <a:rPr lang="en-US" sz="600" dirty="0">
                <a:solidFill>
                  <a:srgbClr val="1C1C1C"/>
                </a:solidFill>
                <a:latin typeface="Calibri" pitchFamily="34" charset="0"/>
                <a:ea typeface="Calibri" pitchFamily="34" charset="-122"/>
                <a:cs typeface="Calibri" pitchFamily="34" charset="-120"/>
              </a:rPr>
              <a:t>Support fellow delivery of national curriculum with emphasis on foundational literacy &amp; numeracy</a:t>
            </a:r>
            <a:endParaRPr lang="en-US" sz="600" dirty="0"/>
          </a:p>
        </p:txBody>
      </p:sp>
      <p:sp>
        <p:nvSpPr>
          <p:cNvPr id="51" name="Text 49"/>
          <p:cNvSpPr/>
          <p:nvPr/>
        </p:nvSpPr>
        <p:spPr>
          <a:xfrm>
            <a:off x="1655064" y="3904895"/>
            <a:ext cx="1700784" cy="160020"/>
          </a:xfrm>
          <a:prstGeom prst="rect">
            <a:avLst/>
          </a:prstGeom>
          <a:noFill/>
          <a:ln/>
        </p:spPr>
        <p:txBody>
          <a:bodyPr wrap="square" lIns="0" tIns="25400" rIns="25400" bIns="0" rtlCol="0" anchor="ctr"/>
          <a:lstStyle/>
          <a:p>
            <a:pPr marL="0" indent="0">
              <a:buNone/>
            </a:pPr>
            <a:r>
              <a:rPr lang="en-US" sz="660" b="1" dirty="0">
                <a:solidFill>
                  <a:srgbClr val="005A2C"/>
                </a:solidFill>
                <a:latin typeface="Calibri" pitchFamily="34" charset="0"/>
                <a:ea typeface="Calibri" pitchFamily="34" charset="-122"/>
                <a:cs typeface="Calibri" pitchFamily="34" charset="-120"/>
              </a:rPr>
              <a:t>4.  Coaching &amp; In-School Support</a:t>
            </a:r>
            <a:endParaRPr lang="en-US" sz="660" dirty="0"/>
          </a:p>
        </p:txBody>
      </p:sp>
      <p:sp>
        <p:nvSpPr>
          <p:cNvPr id="52" name="Text 50"/>
          <p:cNvSpPr/>
          <p:nvPr/>
        </p:nvSpPr>
        <p:spPr>
          <a:xfrm>
            <a:off x="1671066" y="4063816"/>
            <a:ext cx="1700784" cy="283464"/>
          </a:xfrm>
          <a:prstGeom prst="rect">
            <a:avLst/>
          </a:prstGeom>
          <a:noFill/>
          <a:ln/>
        </p:spPr>
        <p:txBody>
          <a:bodyPr wrap="square" lIns="0" tIns="25400" rIns="25400" bIns="0" rtlCol="0" anchor="t"/>
          <a:lstStyle/>
          <a:p>
            <a:pPr marL="342900" indent="-342900">
              <a:buSzPct val="100000"/>
              <a:buChar char="•"/>
            </a:pPr>
            <a:r>
              <a:rPr lang="en-US" sz="600" dirty="0">
                <a:solidFill>
                  <a:srgbClr val="1C1C1C"/>
                </a:solidFill>
                <a:latin typeface="Calibri" pitchFamily="34" charset="0"/>
                <a:ea typeface="Calibri" pitchFamily="34" charset="-122"/>
                <a:cs typeface="Calibri" pitchFamily="34" charset="-120"/>
              </a:rPr>
              <a:t>Provide ongoing instructional coaching &amp; mentoring through assigned TFN coaches</a:t>
            </a:r>
            <a:endParaRPr lang="en-US" sz="600" dirty="0"/>
          </a:p>
          <a:p>
            <a:pPr marL="342900" indent="-342900">
              <a:buSzPct val="100000"/>
              <a:buChar char="•"/>
            </a:pPr>
            <a:r>
              <a:rPr lang="en-US" sz="600" dirty="0">
                <a:solidFill>
                  <a:srgbClr val="1C1C1C"/>
                </a:solidFill>
                <a:latin typeface="Calibri" pitchFamily="34" charset="0"/>
                <a:ea typeface="Calibri" pitchFamily="34" charset="-122"/>
                <a:cs typeface="Calibri" pitchFamily="34" charset="-120"/>
              </a:rPr>
              <a:t>Conduct classroom observations, performance reviews &amp; data-informed feedback sessions</a:t>
            </a:r>
            <a:endParaRPr lang="en-US" sz="600" dirty="0"/>
          </a:p>
        </p:txBody>
      </p:sp>
      <p:sp>
        <p:nvSpPr>
          <p:cNvPr id="53" name="Text 51"/>
          <p:cNvSpPr/>
          <p:nvPr/>
        </p:nvSpPr>
        <p:spPr>
          <a:xfrm>
            <a:off x="1663578" y="4644570"/>
            <a:ext cx="1700784" cy="160020"/>
          </a:xfrm>
          <a:prstGeom prst="rect">
            <a:avLst/>
          </a:prstGeom>
          <a:noFill/>
          <a:ln/>
        </p:spPr>
        <p:txBody>
          <a:bodyPr wrap="square" lIns="0" tIns="25400" rIns="25400" bIns="0" rtlCol="0" anchor="ctr"/>
          <a:lstStyle/>
          <a:p>
            <a:pPr marL="0" indent="0">
              <a:buNone/>
            </a:pPr>
            <a:r>
              <a:rPr lang="en-US" sz="660" b="1" dirty="0">
                <a:solidFill>
                  <a:srgbClr val="005A2C"/>
                </a:solidFill>
                <a:latin typeface="Calibri" pitchFamily="34" charset="0"/>
                <a:ea typeface="Calibri" pitchFamily="34" charset="-122"/>
                <a:cs typeface="Calibri" pitchFamily="34" charset="-120"/>
              </a:rPr>
              <a:t>5.  Leadership &amp; Community Development</a:t>
            </a:r>
            <a:endParaRPr lang="en-US" sz="660" dirty="0"/>
          </a:p>
        </p:txBody>
      </p:sp>
      <p:sp>
        <p:nvSpPr>
          <p:cNvPr id="54" name="Text 52"/>
          <p:cNvSpPr/>
          <p:nvPr/>
        </p:nvSpPr>
        <p:spPr>
          <a:xfrm>
            <a:off x="1677924" y="4795446"/>
            <a:ext cx="1700784" cy="283464"/>
          </a:xfrm>
          <a:prstGeom prst="rect">
            <a:avLst/>
          </a:prstGeom>
          <a:noFill/>
          <a:ln/>
        </p:spPr>
        <p:txBody>
          <a:bodyPr wrap="square" lIns="0" tIns="25400" rIns="25400" bIns="0" rtlCol="0" anchor="t"/>
          <a:lstStyle/>
          <a:p>
            <a:pPr marL="342900" indent="-342900">
              <a:buSzPct val="100000"/>
              <a:buChar char="•"/>
            </a:pPr>
            <a:r>
              <a:rPr lang="en-US" sz="600" dirty="0">
                <a:solidFill>
                  <a:srgbClr val="1C1C1C"/>
                </a:solidFill>
                <a:latin typeface="Calibri" pitchFamily="34" charset="0"/>
                <a:ea typeface="Calibri" pitchFamily="34" charset="-122"/>
                <a:cs typeface="Calibri" pitchFamily="34" charset="-120"/>
              </a:rPr>
              <a:t>Engage fellows in structured leadership development programming</a:t>
            </a:r>
            <a:endParaRPr lang="en-US" sz="600" dirty="0"/>
          </a:p>
          <a:p>
            <a:pPr marL="342900" indent="-342900">
              <a:buSzPct val="100000"/>
              <a:buChar char="•"/>
            </a:pPr>
            <a:r>
              <a:rPr lang="en-US" sz="600" dirty="0">
                <a:solidFill>
                  <a:srgbClr val="1C1C1C"/>
                </a:solidFill>
                <a:latin typeface="Calibri" pitchFamily="34" charset="0"/>
                <a:ea typeface="Calibri" pitchFamily="34" charset="-122"/>
                <a:cs typeface="Calibri" pitchFamily="34" charset="-120"/>
              </a:rPr>
              <a:t>Facilitate fellow-led community engagement with school leadership, parents &amp; stakeholders</a:t>
            </a:r>
            <a:endParaRPr lang="en-US" sz="600" dirty="0"/>
          </a:p>
        </p:txBody>
      </p:sp>
      <p:sp>
        <p:nvSpPr>
          <p:cNvPr id="55" name="Text 53"/>
          <p:cNvSpPr/>
          <p:nvPr/>
        </p:nvSpPr>
        <p:spPr>
          <a:xfrm>
            <a:off x="1673352" y="5375890"/>
            <a:ext cx="1700784" cy="160020"/>
          </a:xfrm>
          <a:prstGeom prst="rect">
            <a:avLst/>
          </a:prstGeom>
          <a:noFill/>
          <a:ln/>
        </p:spPr>
        <p:txBody>
          <a:bodyPr wrap="square" lIns="0" tIns="25400" rIns="25400" bIns="0" rtlCol="0" anchor="ctr"/>
          <a:lstStyle/>
          <a:p>
            <a:pPr marL="0" indent="0">
              <a:buNone/>
            </a:pPr>
            <a:r>
              <a:rPr lang="en-US" sz="660" b="1" dirty="0">
                <a:solidFill>
                  <a:srgbClr val="005A2C"/>
                </a:solidFill>
                <a:latin typeface="Calibri" pitchFamily="34" charset="0"/>
                <a:ea typeface="Calibri" pitchFamily="34" charset="-122"/>
                <a:cs typeface="Calibri" pitchFamily="34" charset="-120"/>
              </a:rPr>
              <a:t>6.  Alumni Engagement &amp; Tracking</a:t>
            </a:r>
            <a:endParaRPr lang="en-US" sz="660" dirty="0"/>
          </a:p>
        </p:txBody>
      </p:sp>
      <p:sp>
        <p:nvSpPr>
          <p:cNvPr id="56" name="Text 54"/>
          <p:cNvSpPr/>
          <p:nvPr/>
        </p:nvSpPr>
        <p:spPr>
          <a:xfrm>
            <a:off x="1677924" y="5562642"/>
            <a:ext cx="1700784" cy="283464"/>
          </a:xfrm>
          <a:prstGeom prst="rect">
            <a:avLst/>
          </a:prstGeom>
          <a:noFill/>
          <a:ln/>
        </p:spPr>
        <p:txBody>
          <a:bodyPr wrap="square" lIns="0" tIns="25400" rIns="25400" bIns="0" rtlCol="0" anchor="t"/>
          <a:lstStyle/>
          <a:p>
            <a:pPr marL="342900" indent="-342900">
              <a:buSzPct val="100000"/>
              <a:buChar char="•"/>
            </a:pPr>
            <a:r>
              <a:rPr lang="en-US" sz="600" dirty="0">
                <a:solidFill>
                  <a:srgbClr val="1C1C1C"/>
                </a:solidFill>
                <a:latin typeface="Calibri" pitchFamily="34" charset="0"/>
                <a:ea typeface="Calibri" pitchFamily="34" charset="-122"/>
                <a:cs typeface="Calibri" pitchFamily="34" charset="-120"/>
              </a:rPr>
              <a:t>Maintain structured alumni network to track career pathways &amp; continued equity engagement</a:t>
            </a:r>
            <a:endParaRPr lang="en-US" sz="600" dirty="0"/>
          </a:p>
          <a:p>
            <a:pPr marL="342900" indent="-342900">
              <a:buSzPct val="100000"/>
              <a:buChar char="•"/>
            </a:pPr>
            <a:r>
              <a:rPr lang="en-US" sz="600" dirty="0">
                <a:solidFill>
                  <a:srgbClr val="1C1C1C"/>
                </a:solidFill>
                <a:latin typeface="Calibri" pitchFamily="34" charset="0"/>
                <a:ea typeface="Calibri" pitchFamily="34" charset="-122"/>
                <a:cs typeface="Calibri" pitchFamily="34" charset="-120"/>
              </a:rPr>
              <a:t>Connect alumni to advocacy, policy, leadership &amp; professional development opportunities</a:t>
            </a:r>
            <a:endParaRPr lang="en-US" sz="600" dirty="0"/>
          </a:p>
        </p:txBody>
      </p:sp>
      <p:sp>
        <p:nvSpPr>
          <p:cNvPr id="57" name="Text 55"/>
          <p:cNvSpPr/>
          <p:nvPr/>
        </p:nvSpPr>
        <p:spPr>
          <a:xfrm>
            <a:off x="3493008" y="1316736"/>
            <a:ext cx="1618488" cy="135331"/>
          </a:xfrm>
          <a:prstGeom prst="rect">
            <a:avLst/>
          </a:prstGeom>
          <a:noFill/>
          <a:ln/>
        </p:spPr>
        <p:txBody>
          <a:bodyPr wrap="square" lIns="0" tIns="0" rIns="0" bIns="0" rtlCol="0" anchor="b"/>
          <a:lstStyle/>
          <a:p>
            <a:pPr marL="0" indent="0">
              <a:buNone/>
            </a:pPr>
            <a:r>
              <a:rPr lang="en-US" sz="570" b="1" dirty="0">
                <a:solidFill>
                  <a:srgbClr val="00783C"/>
                </a:solidFill>
                <a:latin typeface="Calibri" pitchFamily="34" charset="0"/>
                <a:ea typeface="Calibri" pitchFamily="34" charset="-122"/>
                <a:cs typeface="Calibri" pitchFamily="34" charset="-120"/>
              </a:rPr>
              <a:t>RECRUITMENT &amp; SELECTION</a:t>
            </a:r>
            <a:endParaRPr lang="en-US" sz="570" dirty="0"/>
          </a:p>
        </p:txBody>
      </p:sp>
      <p:sp>
        <p:nvSpPr>
          <p:cNvPr id="58" name="Text 56"/>
          <p:cNvSpPr/>
          <p:nvPr/>
        </p:nvSpPr>
        <p:spPr>
          <a:xfrm>
            <a:off x="3493008" y="1452067"/>
            <a:ext cx="1618488" cy="416966"/>
          </a:xfrm>
          <a:prstGeom prst="rect">
            <a:avLst/>
          </a:prstGeom>
          <a:noFill/>
          <a:ln/>
        </p:spPr>
        <p:txBody>
          <a:bodyPr wrap="square" lIns="0" tIns="25400" rIns="25400" bIns="0" rtlCol="0" anchor="t"/>
          <a:lstStyle/>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&amp; type of outreach activities per cohort</a:t>
            </a:r>
            <a:endParaRPr lang="en-US" sz="590" dirty="0"/>
          </a:p>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applications received per cohort</a:t>
            </a:r>
            <a:endParaRPr lang="en-US" sz="590" dirty="0"/>
          </a:p>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fellows selected &amp; placed in Ogun State</a:t>
            </a:r>
            <a:endParaRPr lang="en-US" sz="590" dirty="0"/>
          </a:p>
        </p:txBody>
      </p:sp>
      <p:sp>
        <p:nvSpPr>
          <p:cNvPr id="59" name="Text 57"/>
          <p:cNvSpPr/>
          <p:nvPr/>
        </p:nvSpPr>
        <p:spPr>
          <a:xfrm>
            <a:off x="3493008" y="1898294"/>
            <a:ext cx="1618488" cy="135331"/>
          </a:xfrm>
          <a:prstGeom prst="rect">
            <a:avLst/>
          </a:prstGeom>
          <a:noFill/>
          <a:ln/>
        </p:spPr>
        <p:txBody>
          <a:bodyPr wrap="square" lIns="0" tIns="0" rIns="0" bIns="0" rtlCol="0" anchor="b"/>
          <a:lstStyle/>
          <a:p>
            <a:pPr marL="0" indent="0">
              <a:buNone/>
            </a:pPr>
            <a:r>
              <a:rPr lang="en-US" sz="570" b="1" dirty="0">
                <a:solidFill>
                  <a:srgbClr val="00783C"/>
                </a:solidFill>
                <a:latin typeface="Calibri" pitchFamily="34" charset="0"/>
                <a:ea typeface="Calibri" pitchFamily="34" charset="-122"/>
                <a:cs typeface="Calibri" pitchFamily="34" charset="-120"/>
              </a:rPr>
              <a:t>PRE-SERVICE TRAINING</a:t>
            </a:r>
            <a:endParaRPr lang="en-US" sz="570" dirty="0"/>
          </a:p>
        </p:txBody>
      </p:sp>
      <p:sp>
        <p:nvSpPr>
          <p:cNvPr id="60" name="Text 58"/>
          <p:cNvSpPr/>
          <p:nvPr/>
        </p:nvSpPr>
        <p:spPr>
          <a:xfrm>
            <a:off x="3493008" y="2033626"/>
            <a:ext cx="1618488" cy="416966"/>
          </a:xfrm>
          <a:prstGeom prst="rect">
            <a:avLst/>
          </a:prstGeom>
          <a:noFill/>
          <a:ln/>
        </p:spPr>
        <p:txBody>
          <a:bodyPr wrap="square" lIns="0" tIns="25400" rIns="25400" bIns="0" rtlCol="0" anchor="t"/>
          <a:lstStyle/>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completing the 6-week pre-service program</a:t>
            </a:r>
            <a:endParaRPr lang="en-US" sz="590" dirty="0"/>
          </a:p>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training modules &amp; workshops delivered</a:t>
            </a:r>
            <a:endParaRPr lang="en-US" sz="590" dirty="0"/>
          </a:p>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Instructional toolkits &amp; curriculum guides produced</a:t>
            </a:r>
            <a:endParaRPr lang="en-US" sz="590" dirty="0"/>
          </a:p>
        </p:txBody>
      </p:sp>
      <p:sp>
        <p:nvSpPr>
          <p:cNvPr id="61" name="Text 59"/>
          <p:cNvSpPr/>
          <p:nvPr/>
        </p:nvSpPr>
        <p:spPr>
          <a:xfrm>
            <a:off x="3493008" y="2626549"/>
            <a:ext cx="1618488" cy="135331"/>
          </a:xfrm>
          <a:prstGeom prst="rect">
            <a:avLst/>
          </a:prstGeom>
          <a:noFill/>
          <a:ln/>
        </p:spPr>
        <p:txBody>
          <a:bodyPr wrap="square" lIns="0" tIns="0" rIns="0" bIns="0" rtlCol="0" anchor="b"/>
          <a:lstStyle/>
          <a:p>
            <a:pPr marL="0" indent="0">
              <a:buNone/>
            </a:pPr>
            <a:r>
              <a:rPr lang="en-US" sz="570" b="1" dirty="0">
                <a:solidFill>
                  <a:srgbClr val="00783C"/>
                </a:solidFill>
                <a:latin typeface="Calibri" pitchFamily="34" charset="0"/>
                <a:ea typeface="Calibri" pitchFamily="34" charset="-122"/>
                <a:cs typeface="Calibri" pitchFamily="34" charset="-120"/>
              </a:rPr>
              <a:t>SCHOOL PLACEMENT &amp; TEACHING</a:t>
            </a:r>
            <a:endParaRPr lang="en-US" sz="570" dirty="0"/>
          </a:p>
        </p:txBody>
      </p:sp>
      <p:sp>
        <p:nvSpPr>
          <p:cNvPr id="62" name="Text 60"/>
          <p:cNvSpPr/>
          <p:nvPr/>
        </p:nvSpPr>
        <p:spPr>
          <a:xfrm>
            <a:off x="3474720" y="2781608"/>
            <a:ext cx="1618488" cy="416966"/>
          </a:xfrm>
          <a:prstGeom prst="rect">
            <a:avLst/>
          </a:prstGeom>
          <a:noFill/>
          <a:ln/>
        </p:spPr>
        <p:txBody>
          <a:bodyPr wrap="square" lIns="0" tIns="25400" rIns="25400" bIns="0" rtlCol="0" anchor="t"/>
          <a:lstStyle/>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fellows deployed to Ogun State schools</a:t>
            </a:r>
            <a:endParaRPr lang="en-US" sz="590" dirty="0"/>
          </a:p>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primary &amp; secondary schools served</a:t>
            </a:r>
            <a:endParaRPr lang="en-US" sz="590" dirty="0"/>
          </a:p>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students reached in fellow-led classrooms</a:t>
            </a:r>
            <a:endParaRPr lang="en-US" sz="590" dirty="0"/>
          </a:p>
        </p:txBody>
      </p:sp>
      <p:sp>
        <p:nvSpPr>
          <p:cNvPr id="63" name="Text 61"/>
          <p:cNvSpPr/>
          <p:nvPr/>
        </p:nvSpPr>
        <p:spPr>
          <a:xfrm>
            <a:off x="3493008" y="3301592"/>
            <a:ext cx="1618488" cy="135331"/>
          </a:xfrm>
          <a:prstGeom prst="rect">
            <a:avLst/>
          </a:prstGeom>
          <a:noFill/>
          <a:ln/>
        </p:spPr>
        <p:txBody>
          <a:bodyPr wrap="square" lIns="0" tIns="0" rIns="0" bIns="0" rtlCol="0" anchor="b"/>
          <a:lstStyle/>
          <a:p>
            <a:pPr marL="0" indent="0">
              <a:buNone/>
            </a:pPr>
            <a:r>
              <a:rPr lang="en-US" sz="570" b="1" dirty="0">
                <a:solidFill>
                  <a:srgbClr val="00783C"/>
                </a:solidFill>
                <a:latin typeface="Calibri" pitchFamily="34" charset="0"/>
                <a:ea typeface="Calibri" pitchFamily="34" charset="-122"/>
                <a:cs typeface="Calibri" pitchFamily="34" charset="-120"/>
              </a:rPr>
              <a:t>COACHING &amp; SUPPORT</a:t>
            </a:r>
            <a:endParaRPr lang="en-US" sz="570" dirty="0"/>
          </a:p>
        </p:txBody>
      </p:sp>
      <p:sp>
        <p:nvSpPr>
          <p:cNvPr id="64" name="Text 62"/>
          <p:cNvSpPr/>
          <p:nvPr/>
        </p:nvSpPr>
        <p:spPr>
          <a:xfrm>
            <a:off x="3502152" y="3469538"/>
            <a:ext cx="1618488" cy="277978"/>
          </a:xfrm>
          <a:prstGeom prst="rect">
            <a:avLst/>
          </a:prstGeom>
          <a:noFill/>
          <a:ln/>
        </p:spPr>
        <p:txBody>
          <a:bodyPr wrap="square" lIns="0" tIns="25400" rIns="25400" bIns="0" rtlCol="0" anchor="t"/>
          <a:lstStyle/>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coaching visits &amp; observations per fellow/term</a:t>
            </a:r>
            <a:endParaRPr lang="en-US" sz="590" dirty="0"/>
          </a:p>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performance reviews &amp; feedback sessions/fellow</a:t>
            </a:r>
            <a:endParaRPr lang="en-US" sz="590" dirty="0"/>
          </a:p>
        </p:txBody>
      </p:sp>
      <p:sp>
        <p:nvSpPr>
          <p:cNvPr id="65" name="Text 63"/>
          <p:cNvSpPr/>
          <p:nvPr/>
        </p:nvSpPr>
        <p:spPr>
          <a:xfrm>
            <a:off x="3502152" y="3891686"/>
            <a:ext cx="1618488" cy="135331"/>
          </a:xfrm>
          <a:prstGeom prst="rect">
            <a:avLst/>
          </a:prstGeom>
          <a:noFill/>
          <a:ln/>
        </p:spPr>
        <p:txBody>
          <a:bodyPr wrap="square" lIns="0" tIns="0" rIns="0" bIns="0" rtlCol="0" anchor="b"/>
          <a:lstStyle/>
          <a:p>
            <a:pPr marL="0" indent="0">
              <a:buNone/>
            </a:pPr>
            <a:r>
              <a:rPr lang="en-US" sz="570" b="1" dirty="0">
                <a:solidFill>
                  <a:srgbClr val="00783C"/>
                </a:solidFill>
                <a:latin typeface="Calibri" pitchFamily="34" charset="0"/>
                <a:ea typeface="Calibri" pitchFamily="34" charset="-122"/>
                <a:cs typeface="Calibri" pitchFamily="34" charset="-120"/>
              </a:rPr>
              <a:t>LEADERSHIP &amp; COMMUNITY</a:t>
            </a:r>
            <a:endParaRPr lang="en-US" sz="570" dirty="0"/>
          </a:p>
        </p:txBody>
      </p:sp>
      <p:sp>
        <p:nvSpPr>
          <p:cNvPr id="66" name="Text 64"/>
          <p:cNvSpPr/>
          <p:nvPr/>
        </p:nvSpPr>
        <p:spPr>
          <a:xfrm>
            <a:off x="3493008" y="4059632"/>
            <a:ext cx="1618488" cy="416966"/>
          </a:xfrm>
          <a:prstGeom prst="rect">
            <a:avLst/>
          </a:prstGeom>
          <a:noFill/>
          <a:ln/>
        </p:spPr>
        <p:txBody>
          <a:bodyPr wrap="square" lIns="0" tIns="25400" rIns="25400" bIns="0" rtlCol="0" anchor="t"/>
          <a:lstStyle/>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leadership development sessions delivered</a:t>
            </a:r>
            <a:endParaRPr lang="en-US" sz="590" dirty="0"/>
          </a:p>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fellow-led community projects implemented</a:t>
            </a:r>
            <a:endParaRPr lang="en-US" sz="590" dirty="0"/>
          </a:p>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community members &amp; parents engaged</a:t>
            </a:r>
            <a:endParaRPr lang="en-US" sz="590" dirty="0"/>
          </a:p>
        </p:txBody>
      </p:sp>
      <p:sp>
        <p:nvSpPr>
          <p:cNvPr id="67" name="Text 65"/>
          <p:cNvSpPr/>
          <p:nvPr/>
        </p:nvSpPr>
        <p:spPr>
          <a:xfrm>
            <a:off x="3502152" y="4673263"/>
            <a:ext cx="1618488" cy="135331"/>
          </a:xfrm>
          <a:prstGeom prst="rect">
            <a:avLst/>
          </a:prstGeom>
          <a:noFill/>
          <a:ln/>
        </p:spPr>
        <p:txBody>
          <a:bodyPr wrap="square" lIns="0" tIns="0" rIns="0" bIns="0" rtlCol="0" anchor="b"/>
          <a:lstStyle/>
          <a:p>
            <a:pPr marL="0" indent="0">
              <a:buNone/>
            </a:pPr>
            <a:r>
              <a:rPr lang="en-US" sz="570" b="1" dirty="0">
                <a:solidFill>
                  <a:srgbClr val="00783C"/>
                </a:solidFill>
                <a:latin typeface="Calibri" pitchFamily="34" charset="0"/>
                <a:ea typeface="Calibri" pitchFamily="34" charset="-122"/>
                <a:cs typeface="Calibri" pitchFamily="34" charset="-120"/>
              </a:rPr>
              <a:t>ALUMNI ENGAGEMENT</a:t>
            </a:r>
            <a:endParaRPr lang="en-US" sz="570" dirty="0"/>
          </a:p>
        </p:txBody>
      </p:sp>
      <p:sp>
        <p:nvSpPr>
          <p:cNvPr id="68" name="Text 66"/>
          <p:cNvSpPr/>
          <p:nvPr/>
        </p:nvSpPr>
        <p:spPr>
          <a:xfrm>
            <a:off x="3502152" y="4804590"/>
            <a:ext cx="1618488" cy="416966"/>
          </a:xfrm>
          <a:prstGeom prst="rect">
            <a:avLst/>
          </a:prstGeom>
          <a:noFill/>
          <a:ln/>
        </p:spPr>
        <p:txBody>
          <a:bodyPr wrap="square" lIns="0" tIns="25400" rIns="25400" bIns="0" rtlCol="0" anchor="t"/>
          <a:lstStyle/>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fellowship graduates tracked post-program</a:t>
            </a:r>
            <a:endParaRPr lang="en-US" sz="590" dirty="0"/>
          </a:p>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of alumni convenings &amp; development opportunities</a:t>
            </a:r>
            <a:endParaRPr lang="en-US" sz="590" dirty="0"/>
          </a:p>
          <a:p>
            <a:pPr marL="342900" indent="-342900">
              <a:buSzPct val="100000"/>
              <a:buChar char="•"/>
            </a:pPr>
            <a:r>
              <a:rPr lang="en-US" sz="590" dirty="0">
                <a:solidFill>
                  <a:srgbClr val="1C1C1C"/>
                </a:solidFill>
                <a:latin typeface="Calibri" pitchFamily="34" charset="0"/>
                <a:ea typeface="Calibri" pitchFamily="34" charset="-122"/>
                <a:cs typeface="Calibri" pitchFamily="34" charset="-120"/>
              </a:rPr>
              <a:t># &amp; type of sectors alumni are employed/engaged in</a:t>
            </a:r>
            <a:endParaRPr lang="en-US" sz="590" dirty="0"/>
          </a:p>
        </p:txBody>
      </p:sp>
      <p:sp>
        <p:nvSpPr>
          <p:cNvPr id="69" name="Text 67"/>
          <p:cNvSpPr/>
          <p:nvPr/>
        </p:nvSpPr>
        <p:spPr>
          <a:xfrm>
            <a:off x="5239512" y="1316736"/>
            <a:ext cx="1536192" cy="141732"/>
          </a:xfrm>
          <a:prstGeom prst="rect">
            <a:avLst/>
          </a:prstGeom>
          <a:noFill/>
          <a:ln w="6350">
            <a:solidFill>
              <a:srgbClr val="C8DFB0"/>
            </a:solidFill>
            <a:prstDash val="dash"/>
          </a:ln>
        </p:spPr>
        <p:txBody>
          <a:bodyPr wrap="square" lIns="0" tIns="0" rIns="0" bIns="0" rtlCol="0" anchor="b"/>
          <a:lstStyle/>
          <a:p>
            <a:pPr marL="0" indent="0" algn="l">
              <a:buNone/>
            </a:pPr>
            <a:r>
              <a:rPr lang="en-US" sz="620" b="1" kern="0" spc="30" dirty="0">
                <a:solidFill>
                  <a:srgbClr val="00783C"/>
                </a:solidFill>
                <a:latin typeface="Calibri" pitchFamily="34" charset="0"/>
                <a:ea typeface="Calibri" pitchFamily="34" charset="-122"/>
                <a:cs typeface="Calibri" pitchFamily="34" charset="-120"/>
              </a:rPr>
              <a:t>FELLOWS</a:t>
            </a:r>
            <a:endParaRPr lang="en-US" sz="620" dirty="0"/>
          </a:p>
        </p:txBody>
      </p:sp>
      <p:sp>
        <p:nvSpPr>
          <p:cNvPr id="70" name="Text 68"/>
          <p:cNvSpPr/>
          <p:nvPr/>
        </p:nvSpPr>
        <p:spPr>
          <a:xfrm>
            <a:off x="5257800" y="1458468"/>
            <a:ext cx="1581912" cy="433426"/>
          </a:xfrm>
          <a:prstGeom prst="rect">
            <a:avLst/>
          </a:prstGeom>
          <a:noFill/>
          <a:ln/>
        </p:spPr>
        <p:txBody>
          <a:bodyPr wrap="square" lIns="0" tIns="25400" rIns="25400" bIns="0" rtlCol="0" anchor="t"/>
          <a:lstStyle/>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Increased pedagogical knowledge &amp; classroom management skills following pre-service training</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Improved ability to apply formative assessment &amp; data-informed instructional strategies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Increased awareness of systemic &amp; community-level barriers to education equity in Nigeria</a:t>
            </a:r>
            <a:endParaRPr lang="en-US" sz="610" dirty="0"/>
          </a:p>
        </p:txBody>
      </p:sp>
      <p:sp>
        <p:nvSpPr>
          <p:cNvPr id="71" name="Text 69"/>
          <p:cNvSpPr/>
          <p:nvPr/>
        </p:nvSpPr>
        <p:spPr>
          <a:xfrm>
            <a:off x="5239512" y="2363111"/>
            <a:ext cx="1536192" cy="141732"/>
          </a:xfrm>
          <a:prstGeom prst="rect">
            <a:avLst/>
          </a:prstGeom>
          <a:noFill/>
          <a:ln w="6350">
            <a:solidFill>
              <a:srgbClr val="C8DFB0"/>
            </a:solidFill>
            <a:prstDash val="dash"/>
          </a:ln>
        </p:spPr>
        <p:txBody>
          <a:bodyPr wrap="square" lIns="0" tIns="0" rIns="0" bIns="0" rtlCol="0" anchor="b"/>
          <a:lstStyle/>
          <a:p>
            <a:pPr marL="0" indent="0" algn="l">
              <a:buNone/>
            </a:pPr>
            <a:r>
              <a:rPr lang="en-US" sz="620" b="1" kern="0" spc="30" dirty="0">
                <a:solidFill>
                  <a:srgbClr val="00783C"/>
                </a:solidFill>
                <a:latin typeface="Calibri" pitchFamily="34" charset="0"/>
                <a:ea typeface="Calibri" pitchFamily="34" charset="-122"/>
                <a:cs typeface="Calibri" pitchFamily="34" charset="-120"/>
              </a:rPr>
              <a:t>STUDENTS IN OGUN STATE</a:t>
            </a:r>
            <a:endParaRPr lang="en-US" sz="620" dirty="0"/>
          </a:p>
        </p:txBody>
      </p:sp>
      <p:sp>
        <p:nvSpPr>
          <p:cNvPr id="72" name="Text 70"/>
          <p:cNvSpPr/>
          <p:nvPr/>
        </p:nvSpPr>
        <p:spPr>
          <a:xfrm>
            <a:off x="5234940" y="2556665"/>
            <a:ext cx="1581912" cy="433426"/>
          </a:xfrm>
          <a:prstGeom prst="rect">
            <a:avLst/>
          </a:prstGeom>
          <a:noFill/>
          <a:ln/>
        </p:spPr>
        <p:txBody>
          <a:bodyPr wrap="square" lIns="0" tIns="25400" rIns="25400" bIns="0" rtlCol="0" anchor="t"/>
          <a:lstStyle/>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Increased foundational literacy skills in TFN fellow-led classrooms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Increased foundational numeracy skills in TFN fellow-led classrooms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Improved classroom engagement &amp; attendance among students taught by first-year fellows</a:t>
            </a:r>
            <a:endParaRPr lang="en-US" sz="610" dirty="0"/>
          </a:p>
        </p:txBody>
      </p:sp>
      <p:sp>
        <p:nvSpPr>
          <p:cNvPr id="73" name="Text 71"/>
          <p:cNvSpPr/>
          <p:nvPr/>
        </p:nvSpPr>
        <p:spPr>
          <a:xfrm>
            <a:off x="5257800" y="3302394"/>
            <a:ext cx="1536192" cy="141732"/>
          </a:xfrm>
          <a:prstGeom prst="rect">
            <a:avLst/>
          </a:prstGeom>
          <a:noFill/>
          <a:ln w="6350">
            <a:solidFill>
              <a:srgbClr val="C8DFB0"/>
            </a:solidFill>
            <a:prstDash val="dash"/>
          </a:ln>
        </p:spPr>
        <p:txBody>
          <a:bodyPr wrap="square" lIns="0" tIns="0" rIns="0" bIns="0" rtlCol="0" anchor="b"/>
          <a:lstStyle/>
          <a:p>
            <a:pPr marL="0" indent="0" algn="l">
              <a:buNone/>
            </a:pPr>
            <a:r>
              <a:rPr lang="en-US" sz="620" b="1" kern="0" spc="30" dirty="0">
                <a:solidFill>
                  <a:srgbClr val="00783C"/>
                </a:solidFill>
                <a:latin typeface="Calibri" pitchFamily="34" charset="0"/>
                <a:ea typeface="Calibri" pitchFamily="34" charset="-122"/>
                <a:cs typeface="Calibri" pitchFamily="34" charset="-120"/>
              </a:rPr>
              <a:t>SCHOOLS &amp; COMMUNITIES</a:t>
            </a:r>
            <a:endParaRPr lang="en-US" sz="620" dirty="0"/>
          </a:p>
        </p:txBody>
      </p:sp>
      <p:sp>
        <p:nvSpPr>
          <p:cNvPr id="74" name="Text 72"/>
          <p:cNvSpPr/>
          <p:nvPr/>
        </p:nvSpPr>
        <p:spPr>
          <a:xfrm>
            <a:off x="5256539" y="3510387"/>
            <a:ext cx="1581912" cy="144475"/>
          </a:xfrm>
          <a:prstGeom prst="rect">
            <a:avLst/>
          </a:prstGeom>
          <a:noFill/>
          <a:ln/>
        </p:spPr>
        <p:txBody>
          <a:bodyPr wrap="square" lIns="0" tIns="25400" rIns="25400" bIns="0" rtlCol="0" anchor="t"/>
          <a:lstStyle/>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Increased awareness among host school administrators of evidence-informed teaching approaches introduced by TFN fellows</a:t>
            </a:r>
            <a:endParaRPr lang="en-US" sz="610" dirty="0"/>
          </a:p>
        </p:txBody>
      </p:sp>
      <p:sp>
        <p:nvSpPr>
          <p:cNvPr id="75" name="Text 73"/>
          <p:cNvSpPr/>
          <p:nvPr/>
        </p:nvSpPr>
        <p:spPr>
          <a:xfrm>
            <a:off x="6976872" y="1316736"/>
            <a:ext cx="1536192" cy="141732"/>
          </a:xfrm>
          <a:prstGeom prst="rect">
            <a:avLst/>
          </a:prstGeom>
          <a:noFill/>
          <a:ln w="6350">
            <a:solidFill>
              <a:srgbClr val="C8DFB0"/>
            </a:solidFill>
            <a:prstDash val="dash"/>
          </a:ln>
        </p:spPr>
        <p:txBody>
          <a:bodyPr wrap="square" lIns="0" tIns="0" rIns="0" bIns="0" rtlCol="0" anchor="b"/>
          <a:lstStyle/>
          <a:p>
            <a:pPr marL="0" indent="0" algn="l">
              <a:buNone/>
            </a:pPr>
            <a:r>
              <a:rPr lang="en-US" sz="620" b="1" kern="0" spc="30" dirty="0">
                <a:solidFill>
                  <a:srgbClr val="5E8E1E"/>
                </a:solidFill>
                <a:latin typeface="Calibri" pitchFamily="34" charset="0"/>
                <a:ea typeface="Calibri" pitchFamily="34" charset="-122"/>
                <a:cs typeface="Calibri" pitchFamily="34" charset="-120"/>
              </a:rPr>
              <a:t>FELLOWS</a:t>
            </a:r>
            <a:endParaRPr lang="en-US" sz="620" dirty="0"/>
          </a:p>
        </p:txBody>
      </p:sp>
      <p:sp>
        <p:nvSpPr>
          <p:cNvPr id="76" name="Text 74"/>
          <p:cNvSpPr/>
          <p:nvPr/>
        </p:nvSpPr>
        <p:spPr>
          <a:xfrm>
            <a:off x="6995160" y="1458468"/>
            <a:ext cx="1581912" cy="577901"/>
          </a:xfrm>
          <a:prstGeom prst="rect">
            <a:avLst/>
          </a:prstGeom>
          <a:noFill/>
          <a:ln/>
        </p:spPr>
        <p:txBody>
          <a:bodyPr wrap="square" lIns="0" tIns="25400" rIns="25400" bIns="0" rtlCol="0" anchor="t"/>
          <a:lstStyle/>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Demonstrated improvement in teaching effectiveness  (greater student learning gains in second-year vs. first-year </a:t>
            </a:r>
            <a:r>
              <a:rPr lang="en-US" sz="610">
                <a:solidFill>
                  <a:srgbClr val="1C1C1C"/>
                </a:solidFill>
                <a:latin typeface="Calibri" pitchFamily="34" charset="0"/>
                <a:ea typeface="Calibri" pitchFamily="34" charset="-122"/>
                <a:cs typeface="Calibri" pitchFamily="34" charset="-120"/>
              </a:rPr>
              <a:t>fellow classrooms)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Strengthened professional identity &amp; deepened commitment to educational leadership &amp; equity</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Increased leadership capability through community project design &amp; implementation</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Increased intention to pursue careers in education, policy, advocacy, or social impact</a:t>
            </a:r>
            <a:endParaRPr lang="en-US" sz="610" dirty="0"/>
          </a:p>
        </p:txBody>
      </p:sp>
      <p:sp>
        <p:nvSpPr>
          <p:cNvPr id="77" name="Text 75"/>
          <p:cNvSpPr/>
          <p:nvPr/>
        </p:nvSpPr>
        <p:spPr>
          <a:xfrm>
            <a:off x="6995160" y="2786713"/>
            <a:ext cx="1536192" cy="141732"/>
          </a:xfrm>
          <a:prstGeom prst="rect">
            <a:avLst/>
          </a:prstGeom>
          <a:noFill/>
          <a:ln w="6350">
            <a:solidFill>
              <a:srgbClr val="C8DFB0"/>
            </a:solidFill>
            <a:prstDash val="dash"/>
          </a:ln>
        </p:spPr>
        <p:txBody>
          <a:bodyPr wrap="square" lIns="0" tIns="0" rIns="0" bIns="0" rtlCol="0" anchor="b"/>
          <a:lstStyle/>
          <a:p>
            <a:pPr marL="0" indent="0" algn="l">
              <a:buNone/>
            </a:pPr>
            <a:r>
              <a:rPr lang="en-US" sz="620" b="1" kern="0" spc="30" dirty="0">
                <a:solidFill>
                  <a:srgbClr val="5E8E1E"/>
                </a:solidFill>
                <a:latin typeface="Calibri" pitchFamily="34" charset="0"/>
                <a:ea typeface="Calibri" pitchFamily="34" charset="-122"/>
                <a:cs typeface="Calibri" pitchFamily="34" charset="-120"/>
              </a:rPr>
              <a:t>STUDENTS IN OGUN STATE</a:t>
            </a:r>
            <a:endParaRPr lang="en-US" sz="620" dirty="0"/>
          </a:p>
        </p:txBody>
      </p:sp>
      <p:sp>
        <p:nvSpPr>
          <p:cNvPr id="78" name="Text 76"/>
          <p:cNvSpPr/>
          <p:nvPr/>
        </p:nvSpPr>
        <p:spPr>
          <a:xfrm>
            <a:off x="6976872" y="2934074"/>
            <a:ext cx="1581912" cy="288950"/>
          </a:xfrm>
          <a:prstGeom prst="rect">
            <a:avLst/>
          </a:prstGeom>
          <a:noFill/>
          <a:ln/>
        </p:spPr>
        <p:txBody>
          <a:bodyPr wrap="square" lIns="0" tIns="25400" rIns="25400" bIns="0" rtlCol="0" anchor="t"/>
          <a:lstStyle/>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Sustained improvements in foundational reading &amp; mathematics across TFN classrooms over 2 years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Reduced learning gaps vs. comparison peers in non-TFN Ogun State schools</a:t>
            </a:r>
            <a:endParaRPr lang="en-US" sz="610" dirty="0"/>
          </a:p>
        </p:txBody>
      </p:sp>
      <p:sp>
        <p:nvSpPr>
          <p:cNvPr id="79" name="Text 77"/>
          <p:cNvSpPr/>
          <p:nvPr/>
        </p:nvSpPr>
        <p:spPr>
          <a:xfrm>
            <a:off x="7003043" y="3509031"/>
            <a:ext cx="1536192" cy="141732"/>
          </a:xfrm>
          <a:prstGeom prst="rect">
            <a:avLst/>
          </a:prstGeom>
          <a:noFill/>
          <a:ln w="6350">
            <a:solidFill>
              <a:srgbClr val="C8DFB0"/>
            </a:solidFill>
            <a:prstDash val="dash"/>
          </a:ln>
        </p:spPr>
        <p:txBody>
          <a:bodyPr wrap="square" lIns="0" tIns="0" rIns="0" bIns="0" rtlCol="0" anchor="b"/>
          <a:lstStyle/>
          <a:p>
            <a:pPr marL="0" indent="0" algn="l">
              <a:buNone/>
            </a:pPr>
            <a:r>
              <a:rPr lang="en-US" sz="620" b="1" kern="0" spc="30" dirty="0">
                <a:solidFill>
                  <a:srgbClr val="5E8E1E"/>
                </a:solidFill>
                <a:latin typeface="Calibri" pitchFamily="34" charset="0"/>
                <a:ea typeface="Calibri" pitchFamily="34" charset="-122"/>
                <a:cs typeface="Calibri" pitchFamily="34" charset="-120"/>
              </a:rPr>
              <a:t>SCHOOLS &amp; COMMUNITIES</a:t>
            </a:r>
            <a:endParaRPr lang="en-US" sz="620" dirty="0"/>
          </a:p>
        </p:txBody>
      </p:sp>
      <p:sp>
        <p:nvSpPr>
          <p:cNvPr id="80" name="Text 78"/>
          <p:cNvSpPr/>
          <p:nvPr/>
        </p:nvSpPr>
        <p:spPr>
          <a:xfrm>
            <a:off x="6972300" y="3702862"/>
            <a:ext cx="1581912" cy="433426"/>
          </a:xfrm>
          <a:prstGeom prst="rect">
            <a:avLst/>
          </a:prstGeom>
          <a:noFill/>
          <a:ln/>
        </p:spPr>
        <p:txBody>
          <a:bodyPr wrap="square" lIns="0" tIns="25400" rIns="25400" bIns="0" rtlCol="0" anchor="t"/>
          <a:lstStyle/>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Improved school climate &amp; increased community ownership of learning outcomes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Strengthened relationships between TFN fellows, school leadership &amp; parents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Strengthened institutional relationships between TFN &amp; Ogun State govt education authorities</a:t>
            </a:r>
            <a:endParaRPr lang="en-US" sz="610" dirty="0"/>
          </a:p>
        </p:txBody>
      </p:sp>
      <p:sp>
        <p:nvSpPr>
          <p:cNvPr id="81" name="Text 79"/>
          <p:cNvSpPr/>
          <p:nvPr/>
        </p:nvSpPr>
        <p:spPr>
          <a:xfrm>
            <a:off x="8714232" y="1316736"/>
            <a:ext cx="1536192" cy="141732"/>
          </a:xfrm>
          <a:prstGeom prst="rect">
            <a:avLst/>
          </a:prstGeom>
          <a:noFill/>
          <a:ln w="6350">
            <a:solidFill>
              <a:srgbClr val="C8DFB0"/>
            </a:solidFill>
            <a:prstDash val="dash"/>
          </a:ln>
        </p:spPr>
        <p:txBody>
          <a:bodyPr wrap="square" lIns="0" tIns="0" rIns="0" bIns="0" rtlCol="0" anchor="b"/>
          <a:lstStyle/>
          <a:p>
            <a:pPr marL="0" indent="0" algn="l">
              <a:buNone/>
            </a:pPr>
            <a:r>
              <a:rPr lang="en-US" sz="620" b="1" kern="0" spc="30" dirty="0">
                <a:solidFill>
                  <a:srgbClr val="4A7018"/>
                </a:solidFill>
                <a:latin typeface="Calibri" pitchFamily="34" charset="0"/>
                <a:ea typeface="Calibri" pitchFamily="34" charset="-122"/>
                <a:cs typeface="Calibri" pitchFamily="34" charset="-120"/>
              </a:rPr>
              <a:t>ALUMNI</a:t>
            </a:r>
            <a:endParaRPr lang="en-US" sz="620" dirty="0"/>
          </a:p>
        </p:txBody>
      </p:sp>
      <p:sp>
        <p:nvSpPr>
          <p:cNvPr id="82" name="Text 80"/>
          <p:cNvSpPr/>
          <p:nvPr/>
        </p:nvSpPr>
        <p:spPr>
          <a:xfrm>
            <a:off x="8732520" y="1458468"/>
            <a:ext cx="1581912" cy="433426"/>
          </a:xfrm>
          <a:prstGeom prst="rect">
            <a:avLst/>
          </a:prstGeom>
          <a:noFill/>
          <a:ln/>
        </p:spPr>
        <p:txBody>
          <a:bodyPr wrap="square" lIns="0" tIns="25400" rIns="25400" bIns="0" rtlCol="0" anchor="t"/>
          <a:lstStyle/>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Increased proportion of TFN alumni remaining actively engaged in education, advocacy, school leadership, or policy post-fellowship</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Increased influence of TFN alumni on education reform across government, civil society &amp; school systems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Sustained civic &amp; professional commitment to educational equity through continued leadership &amp; advocacy</a:t>
            </a:r>
            <a:endParaRPr lang="en-US" sz="610" dirty="0"/>
          </a:p>
        </p:txBody>
      </p:sp>
      <p:sp>
        <p:nvSpPr>
          <p:cNvPr id="83" name="Text 81"/>
          <p:cNvSpPr/>
          <p:nvPr/>
        </p:nvSpPr>
        <p:spPr>
          <a:xfrm>
            <a:off x="8718226" y="2609249"/>
            <a:ext cx="1536192" cy="141732"/>
          </a:xfrm>
          <a:prstGeom prst="rect">
            <a:avLst/>
          </a:prstGeom>
          <a:noFill/>
          <a:ln w="6350">
            <a:solidFill>
              <a:srgbClr val="C8DFB0"/>
            </a:solidFill>
            <a:prstDash val="dash"/>
          </a:ln>
        </p:spPr>
        <p:txBody>
          <a:bodyPr wrap="square" lIns="0" tIns="0" rIns="0" bIns="0" rtlCol="0" anchor="b"/>
          <a:lstStyle/>
          <a:p>
            <a:pPr marL="0" indent="0" algn="l">
              <a:buNone/>
            </a:pPr>
            <a:r>
              <a:rPr lang="en-US" sz="620" b="1" kern="0" spc="30" dirty="0">
                <a:solidFill>
                  <a:srgbClr val="4A7018"/>
                </a:solidFill>
                <a:latin typeface="Calibri" pitchFamily="34" charset="0"/>
                <a:ea typeface="Calibri" pitchFamily="34" charset="-122"/>
                <a:cs typeface="Calibri" pitchFamily="34" charset="-120"/>
              </a:rPr>
              <a:t>SYSTEM-LEVEL (OGUN STATE &amp; BEYOND)</a:t>
            </a:r>
            <a:endParaRPr lang="en-US" sz="620" dirty="0"/>
          </a:p>
        </p:txBody>
      </p:sp>
      <p:sp>
        <p:nvSpPr>
          <p:cNvPr id="84" name="Text 82"/>
          <p:cNvSpPr/>
          <p:nvPr/>
        </p:nvSpPr>
        <p:spPr>
          <a:xfrm>
            <a:off x="8714232" y="2845616"/>
            <a:ext cx="1581912" cy="288950"/>
          </a:xfrm>
          <a:prstGeom prst="rect">
            <a:avLst/>
          </a:prstGeom>
          <a:noFill/>
          <a:ln/>
        </p:spPr>
        <p:txBody>
          <a:bodyPr wrap="square" lIns="0" tIns="25400" rIns="25400" bIns="0" rtlCol="0" anchor="t"/>
          <a:lstStyle/>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Sustained increase in availability of equity-committed, well-prepared teachers in under-resourced Ogun State schools</a:t>
            </a:r>
            <a:endParaRPr lang="en-US" sz="610" dirty="0"/>
          </a:p>
          <a:p>
            <a:pPr marL="342900" indent="-342900">
              <a:buSzPct val="100000"/>
              <a:buChar char="•"/>
            </a:pPr>
            <a:r>
              <a:rPr lang="en-US" sz="610" dirty="0">
                <a:solidFill>
                  <a:srgbClr val="1C1C1C"/>
                </a:solidFill>
                <a:latin typeface="Calibri" pitchFamily="34" charset="0"/>
                <a:ea typeface="Calibri" pitchFamily="34" charset="-122"/>
                <a:cs typeface="Calibri" pitchFamily="34" charset="-120"/>
              </a:rPr>
              <a:t>Measurable improvements in foundational learning outcomes across successive fellowship cohorts in TFN-served communities</a:t>
            </a:r>
            <a:endParaRPr lang="en-US" sz="610" dirty="0"/>
          </a:p>
        </p:txBody>
      </p:sp>
      <p:sp>
        <p:nvSpPr>
          <p:cNvPr id="85" name="Text 83"/>
          <p:cNvSpPr/>
          <p:nvPr/>
        </p:nvSpPr>
        <p:spPr>
          <a:xfrm>
            <a:off x="10442448" y="1316736"/>
            <a:ext cx="1645920" cy="182880"/>
          </a:xfrm>
          <a:prstGeom prst="rect">
            <a:avLst/>
          </a:prstGeom>
          <a:noFill/>
          <a:ln/>
        </p:spPr>
        <p:txBody>
          <a:bodyPr wrap="square" lIns="0" tIns="0" rIns="0" bIns="0" rtlCol="0" anchor="ctr"/>
          <a:lstStyle/>
          <a:p>
            <a:pPr marL="0" indent="0" algn="ctr">
              <a:buNone/>
            </a:pPr>
            <a:r>
              <a:rPr lang="en-US" sz="750" b="1" dirty="0">
                <a:solidFill>
                  <a:srgbClr val="78B428"/>
                </a:solidFill>
                <a:latin typeface="Calibri" pitchFamily="34" charset="0"/>
                <a:ea typeface="Calibri" pitchFamily="34" charset="-122"/>
                <a:cs typeface="Calibri" pitchFamily="34" charset="-120"/>
              </a:rPr>
              <a:t>I M P A C T</a:t>
            </a:r>
            <a:endParaRPr lang="en-US" sz="750" dirty="0"/>
          </a:p>
        </p:txBody>
      </p:sp>
      <p:sp>
        <p:nvSpPr>
          <p:cNvPr id="86" name="Shape 84"/>
          <p:cNvSpPr/>
          <p:nvPr/>
        </p:nvSpPr>
        <p:spPr>
          <a:xfrm>
            <a:off x="10488168" y="1508760"/>
            <a:ext cx="1554480" cy="0"/>
          </a:xfrm>
          <a:prstGeom prst="line">
            <a:avLst/>
          </a:prstGeom>
          <a:noFill/>
          <a:ln w="10160">
            <a:solidFill>
              <a:srgbClr val="78B428">
                <a:alpha val="45000"/>
              </a:srgbClr>
            </a:solidFill>
            <a:prstDash val="solid"/>
          </a:ln>
        </p:spPr>
        <p:txBody>
          <a:bodyPr/>
          <a:lstStyle/>
          <a:p>
            <a:endParaRPr lang="en-US"/>
          </a:p>
        </p:txBody>
      </p:sp>
      <p:sp>
        <p:nvSpPr>
          <p:cNvPr id="87" name="Text 85"/>
          <p:cNvSpPr/>
          <p:nvPr/>
        </p:nvSpPr>
        <p:spPr>
          <a:xfrm>
            <a:off x="10442448" y="1591056"/>
            <a:ext cx="347472" cy="256032"/>
          </a:xfrm>
          <a:prstGeom prst="rect">
            <a:avLst/>
          </a:prstGeom>
          <a:noFill/>
          <a:ln/>
        </p:spPr>
        <p:txBody>
          <a:bodyPr wrap="square" lIns="0" tIns="0" rIns="0" bIns="0" rtlCol="0" anchor="ctr"/>
          <a:lstStyle/>
          <a:p>
            <a:pPr marL="0" indent="0">
              <a:buNone/>
            </a:pPr>
            <a:r>
              <a:rPr lang="en-US" sz="1900" b="1" dirty="0">
                <a:solidFill>
                  <a:srgbClr val="78B428"/>
                </a:solidFill>
                <a:latin typeface="Calibri" pitchFamily="34" charset="0"/>
                <a:ea typeface="Calibri" pitchFamily="34" charset="-122"/>
                <a:cs typeface="Calibri" pitchFamily="34" charset="-120"/>
              </a:rPr>
              <a:t>1</a:t>
            </a:r>
            <a:endParaRPr lang="en-US" sz="1900" dirty="0"/>
          </a:p>
        </p:txBody>
      </p:sp>
      <p:sp>
        <p:nvSpPr>
          <p:cNvPr id="88" name="Text 86"/>
          <p:cNvSpPr/>
          <p:nvPr/>
        </p:nvSpPr>
        <p:spPr>
          <a:xfrm>
            <a:off x="10442448" y="1847088"/>
            <a:ext cx="1645920" cy="457200"/>
          </a:xfrm>
          <a:prstGeom prst="rect">
            <a:avLst/>
          </a:prstGeom>
          <a:noFill/>
          <a:ln/>
        </p:spPr>
        <p:txBody>
          <a:bodyPr wrap="square" lIns="0" tIns="25400" rIns="25400" bIns="0" rtlCol="0" anchor="t"/>
          <a:lstStyle/>
          <a:p>
            <a:pPr marL="0" indent="0">
              <a:buNone/>
            </a:pPr>
            <a:r>
              <a:rPr lang="en-US" sz="680" dirty="0">
                <a:solidFill>
                  <a:srgbClr val="FFFFFF"/>
                </a:solidFill>
                <a:latin typeface="Calibri" pitchFamily="34" charset="0"/>
                <a:ea typeface="Calibri" pitchFamily="34" charset="-122"/>
                <a:cs typeface="Calibri" pitchFamily="34" charset="-120"/>
              </a:rPr>
              <a:t>Reduced educational inequity in Ogun State and Nigeria (expanded, sustained access to quality, equity-focused teaching for children in underserved schools)</a:t>
            </a:r>
            <a:endParaRPr lang="en-US" sz="680" dirty="0"/>
          </a:p>
        </p:txBody>
      </p:sp>
      <p:sp>
        <p:nvSpPr>
          <p:cNvPr id="89" name="Text 87"/>
          <p:cNvSpPr/>
          <p:nvPr/>
        </p:nvSpPr>
        <p:spPr>
          <a:xfrm>
            <a:off x="10442448" y="2340864"/>
            <a:ext cx="347472" cy="256032"/>
          </a:xfrm>
          <a:prstGeom prst="rect">
            <a:avLst/>
          </a:prstGeom>
          <a:noFill/>
          <a:ln/>
        </p:spPr>
        <p:txBody>
          <a:bodyPr wrap="square" lIns="0" tIns="0" rIns="0" bIns="0" rtlCol="0" anchor="ctr"/>
          <a:lstStyle/>
          <a:p>
            <a:pPr marL="0" indent="0">
              <a:buNone/>
            </a:pPr>
            <a:r>
              <a:rPr lang="en-US" sz="1900" b="1" dirty="0">
                <a:solidFill>
                  <a:srgbClr val="78B428"/>
                </a:solidFill>
                <a:latin typeface="Calibri" pitchFamily="34" charset="0"/>
                <a:ea typeface="Calibri" pitchFamily="34" charset="-122"/>
                <a:cs typeface="Calibri" pitchFamily="34" charset="-120"/>
              </a:rPr>
              <a:t>2</a:t>
            </a:r>
            <a:endParaRPr lang="en-US" sz="1900" dirty="0"/>
          </a:p>
        </p:txBody>
      </p:sp>
      <p:sp>
        <p:nvSpPr>
          <p:cNvPr id="90" name="Text 88"/>
          <p:cNvSpPr/>
          <p:nvPr/>
        </p:nvSpPr>
        <p:spPr>
          <a:xfrm>
            <a:off x="10442448" y="2596896"/>
            <a:ext cx="1645920" cy="457200"/>
          </a:xfrm>
          <a:prstGeom prst="rect">
            <a:avLst/>
          </a:prstGeom>
          <a:noFill/>
          <a:ln/>
        </p:spPr>
        <p:txBody>
          <a:bodyPr wrap="square" lIns="0" tIns="25400" rIns="25400" bIns="0" rtlCol="0" anchor="t"/>
          <a:lstStyle/>
          <a:p>
            <a:pPr marL="0" indent="0">
              <a:buNone/>
            </a:pPr>
            <a:r>
              <a:rPr lang="en-US" sz="680" dirty="0">
                <a:solidFill>
                  <a:srgbClr val="FFFFFF"/>
                </a:solidFill>
                <a:latin typeface="Calibri" pitchFamily="34" charset="0"/>
                <a:ea typeface="Calibri" pitchFamily="34" charset="-122"/>
                <a:cs typeface="Calibri" pitchFamily="34" charset="-120"/>
              </a:rPr>
              <a:t>A self-sustaining movement of education equity leaders (TFN alumni driving systemic change across policy, leadership &amp; advocacy in Nigeria)</a:t>
            </a:r>
            <a:endParaRPr lang="en-US" sz="680" dirty="0"/>
          </a:p>
        </p:txBody>
      </p:sp>
      <p:sp>
        <p:nvSpPr>
          <p:cNvPr id="91" name="Text 89"/>
          <p:cNvSpPr/>
          <p:nvPr/>
        </p:nvSpPr>
        <p:spPr>
          <a:xfrm>
            <a:off x="10442448" y="3090672"/>
            <a:ext cx="347472" cy="256032"/>
          </a:xfrm>
          <a:prstGeom prst="rect">
            <a:avLst/>
          </a:prstGeom>
          <a:noFill/>
          <a:ln/>
        </p:spPr>
        <p:txBody>
          <a:bodyPr wrap="square" lIns="0" tIns="0" rIns="0" bIns="0" rtlCol="0" anchor="ctr"/>
          <a:lstStyle/>
          <a:p>
            <a:pPr marL="0" indent="0">
              <a:buNone/>
            </a:pPr>
            <a:r>
              <a:rPr lang="en-US" sz="1900" b="1" dirty="0">
                <a:solidFill>
                  <a:srgbClr val="78B428"/>
                </a:solidFill>
                <a:latin typeface="Calibri" pitchFamily="34" charset="0"/>
                <a:ea typeface="Calibri" pitchFamily="34" charset="-122"/>
                <a:cs typeface="Calibri" pitchFamily="34" charset="-120"/>
              </a:rPr>
              <a:t>3</a:t>
            </a:r>
            <a:endParaRPr lang="en-US" sz="1900" dirty="0"/>
          </a:p>
        </p:txBody>
      </p:sp>
      <p:sp>
        <p:nvSpPr>
          <p:cNvPr id="92" name="Text 90"/>
          <p:cNvSpPr/>
          <p:nvPr/>
        </p:nvSpPr>
        <p:spPr>
          <a:xfrm>
            <a:off x="10442448" y="3346704"/>
            <a:ext cx="1645920" cy="457200"/>
          </a:xfrm>
          <a:prstGeom prst="rect">
            <a:avLst/>
          </a:prstGeom>
          <a:noFill/>
          <a:ln/>
        </p:spPr>
        <p:txBody>
          <a:bodyPr wrap="square" lIns="0" tIns="25400" rIns="25400" bIns="0" rtlCol="0" anchor="t"/>
          <a:lstStyle/>
          <a:p>
            <a:pPr marL="0" indent="0">
              <a:buNone/>
            </a:pPr>
            <a:r>
              <a:rPr lang="en-US" sz="680" dirty="0">
                <a:solidFill>
                  <a:srgbClr val="FFFFFF"/>
                </a:solidFill>
                <a:latin typeface="Calibri" pitchFamily="34" charset="0"/>
                <a:ea typeface="Calibri" pitchFamily="34" charset="-122"/>
                <a:cs typeface="Calibri" pitchFamily="34" charset="-120"/>
              </a:rPr>
              <a:t>Improved long-term educational &amp; life outcomes (greater school persistence &amp; opportunity through access to effective, equity-committed teachers)</a:t>
            </a:r>
            <a:endParaRPr lang="en-US" sz="680" dirty="0"/>
          </a:p>
        </p:txBody>
      </p:sp>
      <p:sp>
        <p:nvSpPr>
          <p:cNvPr id="93" name="Shape 91"/>
          <p:cNvSpPr/>
          <p:nvPr/>
        </p:nvSpPr>
        <p:spPr>
          <a:xfrm>
            <a:off x="0" y="6236208"/>
            <a:ext cx="12161520" cy="621792"/>
          </a:xfrm>
          <a:prstGeom prst="rect">
            <a:avLst/>
          </a:prstGeom>
          <a:solidFill>
            <a:srgbClr val="EBF3E4"/>
          </a:solidFill>
          <a:ln w="19050">
            <a:solidFill>
              <a:srgbClr val="78B428"/>
            </a:solidFill>
            <a:prstDash val="solid"/>
          </a:ln>
        </p:spPr>
        <p:txBody>
          <a:bodyPr/>
          <a:lstStyle/>
          <a:p>
            <a:endParaRPr lang="en-US"/>
          </a:p>
        </p:txBody>
      </p:sp>
      <p:sp>
        <p:nvSpPr>
          <p:cNvPr id="94" name="Text 92"/>
          <p:cNvSpPr/>
          <p:nvPr/>
        </p:nvSpPr>
        <p:spPr>
          <a:xfrm>
            <a:off x="137160" y="6291072"/>
            <a:ext cx="1828800" cy="155448"/>
          </a:xfrm>
          <a:prstGeom prst="rect">
            <a:avLst/>
          </a:prstGeom>
          <a:noFill/>
          <a:ln/>
        </p:spPr>
        <p:txBody>
          <a:bodyPr wrap="square" lIns="0" tIns="0" rIns="0" bIns="0" rtlCol="0" anchor="ctr"/>
          <a:lstStyle/>
          <a:p>
            <a:pPr marL="0" indent="0">
              <a:buNone/>
            </a:pPr>
            <a:r>
              <a:rPr lang="en-US" sz="680" b="1" kern="0" spc="100" dirty="0">
                <a:solidFill>
                  <a:srgbClr val="00783C"/>
                </a:solidFill>
                <a:latin typeface="Calibri" pitchFamily="34" charset="0"/>
                <a:ea typeface="Calibri" pitchFamily="34" charset="-122"/>
                <a:cs typeface="Calibri" pitchFamily="34" charset="-120"/>
              </a:rPr>
              <a:t>ASSUMPTIONS</a:t>
            </a:r>
            <a:endParaRPr lang="en-US" sz="680" dirty="0"/>
          </a:p>
        </p:txBody>
      </p:sp>
      <p:sp>
        <p:nvSpPr>
          <p:cNvPr id="95" name="Text 93"/>
          <p:cNvSpPr/>
          <p:nvPr/>
        </p:nvSpPr>
        <p:spPr>
          <a:xfrm>
            <a:off x="137160" y="6437376"/>
            <a:ext cx="5760720" cy="384048"/>
          </a:xfrm>
          <a:prstGeom prst="rect">
            <a:avLst/>
          </a:prstGeom>
          <a:noFill/>
          <a:ln/>
        </p:spPr>
        <p:txBody>
          <a:bodyPr wrap="square" lIns="0" tIns="0" rIns="0" bIns="0" rtlCol="0" anchor="t"/>
          <a:lstStyle/>
          <a:p>
            <a:pPr marL="0" indent="0">
              <a:buNone/>
            </a:pPr>
            <a:r>
              <a:rPr lang="en-US" sz="650" dirty="0">
                <a:solidFill>
                  <a:srgbClr val="3A3A3A"/>
                </a:solidFill>
                <a:latin typeface="Calibri" pitchFamily="34" charset="0"/>
                <a:ea typeface="Calibri" pitchFamily="34" charset="-122"/>
                <a:cs typeface="Calibri" pitchFamily="34" charset="-120"/>
              </a:rPr>
              <a:t>Nigeria's educational inequities require leadership-driven, school-based interventions. High-potential graduates, if well-recruited and supported, can become effective teachers in under-resourced Ogun State schools. Two years of immersive teaching cultivates both teaching effectiveness and long-term equity commitment. School leadership support and community trust are essential conditions. Ogun State government partnerships provide the enabling environment for fellow placement and retention. Fellows carry their experience into post-fellowship careers, amplifying TFN's long-term systemic impact.</a:t>
            </a:r>
            <a:endParaRPr lang="en-US" sz="650" dirty="0"/>
          </a:p>
        </p:txBody>
      </p:sp>
      <p:sp>
        <p:nvSpPr>
          <p:cNvPr id="96" name="Shape 94"/>
          <p:cNvSpPr/>
          <p:nvPr/>
        </p:nvSpPr>
        <p:spPr>
          <a:xfrm>
            <a:off x="6080760" y="6291072"/>
            <a:ext cx="0" cy="502920"/>
          </a:xfrm>
          <a:prstGeom prst="line">
            <a:avLst/>
          </a:prstGeom>
          <a:noFill/>
          <a:ln w="10160">
            <a:solidFill>
              <a:srgbClr val="C8DFB0"/>
            </a:solidFill>
            <a:prstDash val="solid"/>
          </a:ln>
        </p:spPr>
        <p:txBody>
          <a:bodyPr/>
          <a:lstStyle/>
          <a:p>
            <a:endParaRPr lang="en-US"/>
          </a:p>
        </p:txBody>
      </p:sp>
      <p:sp>
        <p:nvSpPr>
          <p:cNvPr id="97" name="Text 95"/>
          <p:cNvSpPr/>
          <p:nvPr/>
        </p:nvSpPr>
        <p:spPr>
          <a:xfrm>
            <a:off x="6217920" y="6291072"/>
            <a:ext cx="3657600" cy="155448"/>
          </a:xfrm>
          <a:prstGeom prst="rect">
            <a:avLst/>
          </a:prstGeom>
          <a:noFill/>
          <a:ln/>
        </p:spPr>
        <p:txBody>
          <a:bodyPr wrap="square" lIns="0" tIns="0" rIns="0" bIns="0" rtlCol="0" anchor="ctr"/>
          <a:lstStyle/>
          <a:p>
            <a:pPr marL="0" indent="0">
              <a:buNone/>
            </a:pPr>
            <a:r>
              <a:rPr lang="en-US" sz="680" b="1" kern="0" spc="100" dirty="0">
                <a:solidFill>
                  <a:srgbClr val="00783C"/>
                </a:solidFill>
                <a:latin typeface="Calibri" pitchFamily="34" charset="0"/>
                <a:ea typeface="Calibri" pitchFamily="34" charset="-122"/>
                <a:cs typeface="Calibri" pitchFamily="34" charset="-120"/>
              </a:rPr>
              <a:t>ENVIRONMENTAL INFLUENCES</a:t>
            </a:r>
            <a:endParaRPr lang="en-US" sz="680" dirty="0"/>
          </a:p>
        </p:txBody>
      </p:sp>
      <p:sp>
        <p:nvSpPr>
          <p:cNvPr id="98" name="Text 96"/>
          <p:cNvSpPr/>
          <p:nvPr/>
        </p:nvSpPr>
        <p:spPr>
          <a:xfrm>
            <a:off x="6217920" y="6437376"/>
            <a:ext cx="5806440" cy="384048"/>
          </a:xfrm>
          <a:prstGeom prst="rect">
            <a:avLst/>
          </a:prstGeom>
          <a:noFill/>
          <a:ln/>
        </p:spPr>
        <p:txBody>
          <a:bodyPr wrap="square" lIns="0" tIns="0" rIns="0" bIns="0" rtlCol="0" anchor="t"/>
          <a:lstStyle/>
          <a:p>
            <a:pPr marL="0" indent="0">
              <a:buNone/>
            </a:pPr>
            <a:r>
              <a:rPr lang="en-US" sz="650" dirty="0">
                <a:solidFill>
                  <a:srgbClr val="3A3A3A"/>
                </a:solidFill>
                <a:latin typeface="Calibri" pitchFamily="34" charset="0"/>
                <a:ea typeface="Calibri" pitchFamily="34" charset="-122"/>
                <a:cs typeface="Calibri" pitchFamily="34" charset="-120"/>
              </a:rPr>
              <a:t>Ogun State government education policies and partnership conditions; availability of philanthropic and institutional funding; school infrastructure in placement communities; community attitudes toward externally placed teachers; national education reform landscape; security and mobility conditions in rural and peri-urban Ogun State communities.</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981</Words>
  <Application>Microsoft Macintosh PowerPoint</Application>
  <PresentationFormat>Widescreen</PresentationFormat>
  <Paragraphs>119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 For Nigeria – Two-Year Fellowship Logic Model</dc:title>
  <dc:subject>PptxGenJS Presentation</dc:subject>
  <dc:creator>PptxGenJS</dc:creator>
  <cp:lastModifiedBy>Ibezim, Nene Onyedi</cp:lastModifiedBy>
  <cp:revision>2</cp:revision>
  <dcterms:created xsi:type="dcterms:W3CDTF">2026-02-24T01:20:29Z</dcterms:created>
  <dcterms:modified xsi:type="dcterms:W3CDTF">2026-02-24T01:59:40Z</dcterms:modified>
</cp:coreProperties>
</file>