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65" r:id="rId3"/>
    <p:sldId id="266" r:id="rId4"/>
    <p:sldId id="259" r:id="rId5"/>
    <p:sldId id="260" r:id="rId6"/>
    <p:sldId id="261" r:id="rId7"/>
    <p:sldId id="262" r:id="rId8"/>
    <p:sldId id="267" r:id="rId9"/>
    <p:sldId id="264" r:id="rId10"/>
    <p:sldId id="269" r:id="rId11"/>
    <p:sldId id="27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6A4F"/>
    <a:srgbClr val="196B3C"/>
    <a:srgbClr val="1B4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2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62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25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close with this. We already know that TFN fellows make a difference for students. What we don't yet know — with the precision that program improvement requires — is why. This evaluation is designed to answer that question: what in the fellowship model matters most, and how do we make it stronger? The design is rigorous, the stakeholder engagement is genuine, and the findings will be used. I believe this evaluation is a meaningful investment in TFN's ability to deliver on its mission — and I appreciate your time and consideration. I'm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3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194560" cy="2194560"/>
          </a:xfrm>
          <a:prstGeom prst="ellipse">
            <a:avLst/>
          </a:prstGeom>
          <a:solidFill>
            <a:srgbClr val="40916C">
              <a:alpha val="45000"/>
            </a:srgbClr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9728" cy="2560320"/>
          </a:xfrm>
          <a:prstGeom prst="rect">
            <a:avLst/>
          </a:prstGeom>
          <a:solidFill>
            <a:srgbClr val="E9C4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For Nigeria
</a:t>
            </a:r>
            <a:r>
              <a:rPr lang="en-US" sz="3400" b="1" dirty="0">
                <a:solidFill>
                  <a:srgbClr val="D8F3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Fellowship Evaluation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Ogun State, Nigeria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chemeClr val="bg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3708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Nene Onyedi Ibezim   |   April 2026   |   MSSP6290: Research and Evaluation Design</a:t>
            </a:r>
            <a:endParaRPr lang="en-US" sz="1100" b="1" dirty="0">
              <a:solidFill>
                <a:srgbClr val="196B3C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38E7BA-6D2D-57C9-7B4A-4F299022D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80" y="4370832"/>
            <a:ext cx="163830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4E7926-12A3-D0D5-71E0-3632F13B516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D1BE85-A279-1E91-A530-3ECEBABC2E64}"/>
              </a:ext>
            </a:extLst>
          </p:cNvPr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946EE0-50E5-A9B7-ECD9-7C841BCB3F5E}"/>
              </a:ext>
            </a:extLst>
          </p:cNvPr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Nigeria's Learning Crisis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393B232-7293-723F-6274-FC0F3D202875}"/>
              </a:ext>
            </a:extLst>
          </p:cNvPr>
          <p:cNvSpPr/>
          <p:nvPr/>
        </p:nvSpPr>
        <p:spPr>
          <a:xfrm>
            <a:off x="320040" y="896112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D05BFA-E2C3-5192-F9B1-AD8F446F5142}"/>
              </a:ext>
            </a:extLst>
          </p:cNvPr>
          <p:cNvSpPr/>
          <p:nvPr/>
        </p:nvSpPr>
        <p:spPr>
          <a:xfrm>
            <a:off x="320040" y="896112"/>
            <a:ext cx="260604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F09296-4077-AEE3-13E1-21F86271FC8F}"/>
              </a:ext>
            </a:extLst>
          </p:cNvPr>
          <p:cNvSpPr/>
          <p:nvPr/>
        </p:nvSpPr>
        <p:spPr>
          <a:xfrm>
            <a:off x="457200" y="10789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4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741A8E-BEF0-36C7-5996-F75CE2225C3C}"/>
              </a:ext>
            </a:extLst>
          </p:cNvPr>
          <p:cNvSpPr/>
          <p:nvPr/>
        </p:nvSpPr>
        <p:spPr>
          <a:xfrm>
            <a:off x="411480" y="18470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primary-age children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school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1750BC6-75B9-4CEE-AD21-673E0FF0C2E3}"/>
              </a:ext>
            </a:extLst>
          </p:cNvPr>
          <p:cNvSpPr/>
          <p:nvPr/>
        </p:nvSpPr>
        <p:spPr>
          <a:xfrm>
            <a:off x="411480" y="25603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UNESCO/World Bank, 2023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AFD530E-E699-5D22-43C5-DF04FDD408DD}"/>
              </a:ext>
            </a:extLst>
          </p:cNvPr>
          <p:cNvSpPr/>
          <p:nvPr/>
        </p:nvSpPr>
        <p:spPr>
          <a:xfrm>
            <a:off x="3154680" y="896112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1E754F3-D927-6F1F-5980-180ECF280AFC}"/>
              </a:ext>
            </a:extLst>
          </p:cNvPr>
          <p:cNvSpPr/>
          <p:nvPr/>
        </p:nvSpPr>
        <p:spPr>
          <a:xfrm>
            <a:off x="3154680" y="896112"/>
            <a:ext cx="260604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5320A0-BEEF-8FC5-3607-0319A826F3D6}"/>
              </a:ext>
            </a:extLst>
          </p:cNvPr>
          <p:cNvSpPr/>
          <p:nvPr/>
        </p:nvSpPr>
        <p:spPr>
          <a:xfrm>
            <a:off x="3291840" y="10789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3ED236E-DD6D-5CD8-47D4-24498CB641E2}"/>
              </a:ext>
            </a:extLst>
          </p:cNvPr>
          <p:cNvSpPr/>
          <p:nvPr/>
        </p:nvSpPr>
        <p:spPr>
          <a:xfrm>
            <a:off x="3246120" y="18470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10-year-olds cannot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simple text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115093E-5014-03AA-B1CE-33CBCA0A369B}"/>
              </a:ext>
            </a:extLst>
          </p:cNvPr>
          <p:cNvSpPr/>
          <p:nvPr/>
        </p:nvSpPr>
        <p:spPr>
          <a:xfrm>
            <a:off x="3246120" y="25603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UNICEF, 2022</a:t>
            </a:r>
            <a:endParaRPr lang="en-US" sz="8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646E688-BBD7-7CB0-043A-7CABB6643860}"/>
              </a:ext>
            </a:extLst>
          </p:cNvPr>
          <p:cNvSpPr/>
          <p:nvPr/>
        </p:nvSpPr>
        <p:spPr>
          <a:xfrm>
            <a:off x="5989320" y="896112"/>
            <a:ext cx="2606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B9E18EC-F8AF-756B-64E1-5AC0F871871B}"/>
              </a:ext>
            </a:extLst>
          </p:cNvPr>
          <p:cNvSpPr/>
          <p:nvPr/>
        </p:nvSpPr>
        <p:spPr>
          <a:xfrm>
            <a:off x="5989320" y="896112"/>
            <a:ext cx="2606040" cy="914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8400C7C-49A7-FEB1-CA24-389696E64841}"/>
              </a:ext>
            </a:extLst>
          </p:cNvPr>
          <p:cNvSpPr/>
          <p:nvPr/>
        </p:nvSpPr>
        <p:spPr>
          <a:xfrm>
            <a:off x="6126480" y="10789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195K</a:t>
            </a:r>
            <a:endParaRPr lang="en-US" sz="4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264702E-B3BD-789C-6098-B4F94BCA3FE2}"/>
              </a:ext>
            </a:extLst>
          </p:cNvPr>
          <p:cNvSpPr/>
          <p:nvPr/>
        </p:nvSpPr>
        <p:spPr>
          <a:xfrm>
            <a:off x="6080760" y="184708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teacher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 nationwide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D949C8-FA9B-97C3-D921-E6D8678EEC3D}"/>
              </a:ext>
            </a:extLst>
          </p:cNvPr>
          <p:cNvSpPr/>
          <p:nvPr/>
        </p:nvSpPr>
        <p:spPr>
          <a:xfrm>
            <a:off x="6080760" y="25603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UBEC, 2024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947FB2C-11C7-2C52-2A65-231039A9EDD6}"/>
              </a:ext>
            </a:extLst>
          </p:cNvPr>
          <p:cNvSpPr/>
          <p:nvPr/>
        </p:nvSpPr>
        <p:spPr>
          <a:xfrm>
            <a:off x="457200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8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82F782B-CA1A-DE42-69F0-D0517D3B9EE3}"/>
              </a:ext>
            </a:extLst>
          </p:cNvPr>
          <p:cNvSpPr/>
          <p:nvPr/>
        </p:nvSpPr>
        <p:spPr>
          <a:xfrm>
            <a:off x="457200" y="3730752"/>
            <a:ext cx="256032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C7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086879A-0B0C-2DE8-21A1-8857C7BCF8CB}"/>
              </a:ext>
            </a:extLst>
          </p:cNvPr>
          <p:cNvSpPr/>
          <p:nvPr/>
        </p:nvSpPr>
        <p:spPr>
          <a:xfrm>
            <a:off x="502920" y="3749040"/>
            <a:ext cx="246888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teacher shortages &amp; chronic underinvestment in public education</a:t>
            </a:r>
            <a:endParaRPr lang="en-US" sz="10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B3A484C-E287-C8C7-7CA9-5E4527AEFF42}"/>
              </a:ext>
            </a:extLst>
          </p:cNvPr>
          <p:cNvSpPr/>
          <p:nvPr/>
        </p:nvSpPr>
        <p:spPr>
          <a:xfrm>
            <a:off x="3246120" y="3730752"/>
            <a:ext cx="256032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C7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DC9F1A5-3C9E-0078-8651-38ECF4357281}"/>
              </a:ext>
            </a:extLst>
          </p:cNvPr>
          <p:cNvSpPr/>
          <p:nvPr/>
        </p:nvSpPr>
        <p:spPr>
          <a:xfrm>
            <a:off x="3291840" y="3749040"/>
            <a:ext cx="246888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School-level barriers: overcrowding, poor infrastructure, limited resources</a:t>
            </a:r>
            <a:endParaRPr lang="en-US" sz="10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BD4A265-1773-D824-6BC1-0FEB48147B83}"/>
              </a:ext>
            </a:extLst>
          </p:cNvPr>
          <p:cNvSpPr/>
          <p:nvPr/>
        </p:nvSpPr>
        <p:spPr>
          <a:xfrm>
            <a:off x="6035040" y="3730752"/>
            <a:ext cx="2560320" cy="804672"/>
          </a:xfrm>
          <a:prstGeom prst="rect">
            <a:avLst/>
          </a:prstGeom>
          <a:solidFill>
            <a:srgbClr val="D8F3DC"/>
          </a:solidFill>
          <a:ln w="12700">
            <a:solidFill>
              <a:srgbClr val="C7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4405533-F182-C46E-2AB3-B5840F76ED56}"/>
              </a:ext>
            </a:extLst>
          </p:cNvPr>
          <p:cNvSpPr/>
          <p:nvPr/>
        </p:nvSpPr>
        <p:spPr>
          <a:xfrm>
            <a:off x="6080760" y="3749040"/>
            <a:ext cx="246888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school leadership &amp; gaps in evidence-based pedagogical practice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67289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7A1536-0C98-8E37-4DD6-6B2BF4AED24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6824F8-0EAC-4E8E-09F7-5C17284DDC8C}"/>
              </a:ext>
            </a:extLst>
          </p:cNvPr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FAFB3A-EC98-5EA9-474D-F05E0F9F4E78}"/>
              </a:ext>
            </a:extLst>
          </p:cNvPr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 For Nigeria Fellowship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D5DBB7-238D-BD78-60F6-2CAE8D126483}"/>
              </a:ext>
            </a:extLst>
          </p:cNvPr>
          <p:cNvSpPr/>
          <p:nvPr/>
        </p:nvSpPr>
        <p:spPr>
          <a:xfrm>
            <a:off x="274320" y="82296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7DE15A-C5AB-2D47-D350-D7A1170B3320}"/>
              </a:ext>
            </a:extLst>
          </p:cNvPr>
          <p:cNvSpPr/>
          <p:nvPr/>
        </p:nvSpPr>
        <p:spPr>
          <a:xfrm>
            <a:off x="955548" y="877824"/>
            <a:ext cx="603504" cy="6035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EB737E-F53D-3C6D-028B-427193BD0FD2}"/>
              </a:ext>
            </a:extLst>
          </p:cNvPr>
          <p:cNvSpPr/>
          <p:nvPr/>
        </p:nvSpPr>
        <p:spPr>
          <a:xfrm>
            <a:off x="941832" y="8778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D1C957-CD4E-CBDB-C578-B405ACEE73DE}"/>
              </a:ext>
            </a:extLst>
          </p:cNvPr>
          <p:cNvSpPr/>
          <p:nvPr/>
        </p:nvSpPr>
        <p:spPr>
          <a:xfrm>
            <a:off x="365760" y="15727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B05329-75C6-25F8-FF38-C2264E34B777}"/>
              </a:ext>
            </a:extLst>
          </p:cNvPr>
          <p:cNvSpPr/>
          <p:nvPr/>
        </p:nvSpPr>
        <p:spPr>
          <a:xfrm>
            <a:off x="365760" y="22128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outreach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graduates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13023C4-1AD5-0EE9-8206-389634B3C942}"/>
              </a:ext>
            </a:extLst>
          </p:cNvPr>
          <p:cNvSpPr/>
          <p:nvPr/>
        </p:nvSpPr>
        <p:spPr>
          <a:xfrm>
            <a:off x="2473452" y="877824"/>
            <a:ext cx="18562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6A3F319-180A-4545-12B8-DEC05236385B}"/>
              </a:ext>
            </a:extLst>
          </p:cNvPr>
          <p:cNvSpPr/>
          <p:nvPr/>
        </p:nvSpPr>
        <p:spPr>
          <a:xfrm>
            <a:off x="3118104" y="877824"/>
            <a:ext cx="603504" cy="6035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A967155-C7FF-684A-99DC-4AEA14839049}"/>
              </a:ext>
            </a:extLst>
          </p:cNvPr>
          <p:cNvSpPr/>
          <p:nvPr/>
        </p:nvSpPr>
        <p:spPr>
          <a:xfrm>
            <a:off x="3118104" y="8778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F7E1F8A-5614-3D56-7B7F-6E230613C3A3}"/>
              </a:ext>
            </a:extLst>
          </p:cNvPr>
          <p:cNvSpPr/>
          <p:nvPr/>
        </p:nvSpPr>
        <p:spPr>
          <a:xfrm>
            <a:off x="2542032" y="15727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6-Week 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Training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06AF854-7CBD-3B91-A1D9-22C8225BB5FF}"/>
              </a:ext>
            </a:extLst>
          </p:cNvPr>
          <p:cNvSpPr/>
          <p:nvPr/>
        </p:nvSpPr>
        <p:spPr>
          <a:xfrm>
            <a:off x="2542032" y="22128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Pedagogy, classroom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1220281-A8C0-BE71-9D80-32ECECB4198F}"/>
              </a:ext>
            </a:extLst>
          </p:cNvPr>
          <p:cNvSpPr/>
          <p:nvPr/>
        </p:nvSpPr>
        <p:spPr>
          <a:xfrm>
            <a:off x="4594860" y="877824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7BBE2BA-65EE-8E2F-9442-0F82675A3053}"/>
              </a:ext>
            </a:extLst>
          </p:cNvPr>
          <p:cNvSpPr/>
          <p:nvPr/>
        </p:nvSpPr>
        <p:spPr>
          <a:xfrm>
            <a:off x="5294376" y="877824"/>
            <a:ext cx="603504" cy="6035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4EF6A23-663D-A903-44DF-42757CD5B127}"/>
              </a:ext>
            </a:extLst>
          </p:cNvPr>
          <p:cNvSpPr/>
          <p:nvPr/>
        </p:nvSpPr>
        <p:spPr>
          <a:xfrm>
            <a:off x="5294376" y="8778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006D546-7652-D3FA-9571-2BFB99A9C48F}"/>
              </a:ext>
            </a:extLst>
          </p:cNvPr>
          <p:cNvSpPr/>
          <p:nvPr/>
        </p:nvSpPr>
        <p:spPr>
          <a:xfrm>
            <a:off x="4718304" y="15727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D30699C-1023-8BAE-2ACA-58E6EF91B79C}"/>
              </a:ext>
            </a:extLst>
          </p:cNvPr>
          <p:cNvSpPr/>
          <p:nvPr/>
        </p:nvSpPr>
        <p:spPr>
          <a:xfrm>
            <a:off x="4718304" y="22128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Under-resourced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schools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Ogun State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9BCD4CC-0015-C5B1-D078-81FB831D1526}"/>
              </a:ext>
            </a:extLst>
          </p:cNvPr>
          <p:cNvSpPr/>
          <p:nvPr/>
        </p:nvSpPr>
        <p:spPr>
          <a:xfrm>
            <a:off x="6803136" y="82296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6646A33-675E-D761-850D-7CCF03DC7487}"/>
              </a:ext>
            </a:extLst>
          </p:cNvPr>
          <p:cNvSpPr/>
          <p:nvPr/>
        </p:nvSpPr>
        <p:spPr>
          <a:xfrm>
            <a:off x="7470648" y="877824"/>
            <a:ext cx="603504" cy="603504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EFF9402-9FF9-6092-EDF5-4D80C012BEA6}"/>
              </a:ext>
            </a:extLst>
          </p:cNvPr>
          <p:cNvSpPr/>
          <p:nvPr/>
        </p:nvSpPr>
        <p:spPr>
          <a:xfrm>
            <a:off x="7470648" y="8778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0549BC3-6BC6-1483-A867-7B87F1BE0280}"/>
              </a:ext>
            </a:extLst>
          </p:cNvPr>
          <p:cNvSpPr/>
          <p:nvPr/>
        </p:nvSpPr>
        <p:spPr>
          <a:xfrm>
            <a:off x="6894576" y="157276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2F5695C-CEA8-5DC4-19F2-E80BA556798E}"/>
              </a:ext>
            </a:extLst>
          </p:cNvPr>
          <p:cNvSpPr/>
          <p:nvPr/>
        </p:nvSpPr>
        <p:spPr>
          <a:xfrm>
            <a:off x="6894576" y="22128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instructional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across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fellowship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C6F11C3-7ABD-BE73-50C9-5DAED42D8780}"/>
              </a:ext>
            </a:extLst>
          </p:cNvPr>
          <p:cNvSpPr/>
          <p:nvPr/>
        </p:nvSpPr>
        <p:spPr>
          <a:xfrm>
            <a:off x="274320" y="3675888"/>
            <a:ext cx="1965960" cy="10241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20F9F2C-6ACA-3B68-CAE2-AF3230C47C8A}"/>
              </a:ext>
            </a:extLst>
          </p:cNvPr>
          <p:cNvSpPr/>
          <p:nvPr/>
        </p:nvSpPr>
        <p:spPr>
          <a:xfrm>
            <a:off x="320040" y="37307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2,965</a:t>
            </a:r>
            <a:endParaRPr lang="en-US" sz="2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0ECA104-6253-340F-6F59-C26D358A1230}"/>
              </a:ext>
            </a:extLst>
          </p:cNvPr>
          <p:cNvSpPr/>
          <p:nvPr/>
        </p:nvSpPr>
        <p:spPr>
          <a:xfrm>
            <a:off x="320040" y="42428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 Selected</a:t>
            </a:r>
            <a:endParaRPr lang="en-US" sz="9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1269CFC-7330-FA4E-141F-F1CBA019962C}"/>
              </a:ext>
            </a:extLst>
          </p:cNvPr>
          <p:cNvSpPr/>
          <p:nvPr/>
        </p:nvSpPr>
        <p:spPr>
          <a:xfrm>
            <a:off x="2450592" y="3675888"/>
            <a:ext cx="1965960" cy="10241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4499B2D-EDA4-1ADE-E9F4-F5684C7E5769}"/>
              </a:ext>
            </a:extLst>
          </p:cNvPr>
          <p:cNvSpPr/>
          <p:nvPr/>
        </p:nvSpPr>
        <p:spPr>
          <a:xfrm>
            <a:off x="2496312" y="37307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79,000+</a:t>
            </a:r>
            <a:endParaRPr lang="en-US" sz="2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6D1C751-014E-E13E-CB45-4D15CE013550}"/>
              </a:ext>
            </a:extLst>
          </p:cNvPr>
          <p:cNvSpPr/>
          <p:nvPr/>
        </p:nvSpPr>
        <p:spPr>
          <a:xfrm>
            <a:off x="2496312" y="42428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Applicants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1BB2A58-87F3-0F9E-FDF3-10C170DC018F}"/>
              </a:ext>
            </a:extLst>
          </p:cNvPr>
          <p:cNvSpPr/>
          <p:nvPr/>
        </p:nvSpPr>
        <p:spPr>
          <a:xfrm>
            <a:off x="4626864" y="3675888"/>
            <a:ext cx="1965960" cy="10241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FC06A3A-B27D-FAB1-CD63-D97C5B9330C3}"/>
              </a:ext>
            </a:extLst>
          </p:cNvPr>
          <p:cNvSpPr/>
          <p:nvPr/>
        </p:nvSpPr>
        <p:spPr>
          <a:xfrm>
            <a:off x="4672584" y="37307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300,000+</a:t>
            </a:r>
            <a:endParaRPr lang="en-US" sz="20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F469334-3819-E16B-A74F-2DB20101B65B}"/>
              </a:ext>
            </a:extLst>
          </p:cNvPr>
          <p:cNvSpPr/>
          <p:nvPr/>
        </p:nvSpPr>
        <p:spPr>
          <a:xfrm>
            <a:off x="4672584" y="42428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Reached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E316E57-0B22-8898-4AA2-2950242EB9F8}"/>
              </a:ext>
            </a:extLst>
          </p:cNvPr>
          <p:cNvSpPr/>
          <p:nvPr/>
        </p:nvSpPr>
        <p:spPr>
          <a:xfrm>
            <a:off x="6803136" y="3675888"/>
            <a:ext cx="1965960" cy="10241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70848D4-0E69-8C5B-310B-58BF526E67B4}"/>
              </a:ext>
            </a:extLst>
          </p:cNvPr>
          <p:cNvSpPr/>
          <p:nvPr/>
        </p:nvSpPr>
        <p:spPr>
          <a:xfrm>
            <a:off x="6848856" y="37307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+0.11 SD</a:t>
            </a:r>
            <a:endParaRPr lang="en-US" sz="2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2FE1711-A357-7F82-EAF3-C1D93820A075}"/>
              </a:ext>
            </a:extLst>
          </p:cNvPr>
          <p:cNvSpPr/>
          <p:nvPr/>
        </p:nvSpPr>
        <p:spPr>
          <a:xfrm>
            <a:off x="6848856" y="42428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Gains (RAND, 2024)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3497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2" grpId="0" animBg="1"/>
      <p:bldP spid="15" grpId="0" animBg="1"/>
      <p:bldP spid="16" grpId="0" animBg="1"/>
      <p:bldP spid="19" grpId="0" animBg="1"/>
      <p:bldP spid="22" grpId="0" animBg="1"/>
      <p:bldP spid="23" grpId="0" animBg="1"/>
      <p:bldP spid="26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411480" cy="64008"/>
          </a:xfrm>
          <a:prstGeom prst="rect">
            <a:avLst/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Constituent Engagement — Who's Involved 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502920"/>
          </a:xfrm>
          <a:prstGeom prst="rect">
            <a:avLst/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Evaluation Strategy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606040"/>
          </a:xfrm>
          <a:prstGeom prst="rect">
            <a:avLst/>
          </a:prstGeom>
          <a:solidFill>
            <a:srgbClr val="F7FAF8"/>
          </a:solidFill>
          <a:ln w="12700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Stakeholders: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9280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 Coaches &amp; Staff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2128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 Leadership &amp; Management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5328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Administrators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2186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evaluation questions, define indicators, validate scope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960120"/>
            <a:ext cx="2651760" cy="502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Data Collection &amp;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0128" y="1463040"/>
            <a:ext cx="2651760" cy="2606040"/>
          </a:xfrm>
          <a:prstGeom prst="rect">
            <a:avLst/>
          </a:prstGeom>
          <a:solidFill>
            <a:srgbClr val="F7FAF8"/>
          </a:solidFill>
          <a:ln w="12700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19856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Stakeholders: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9856" y="189280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 Fellows (survey)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19856" y="22128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Admin Team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19856" y="25328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Administrators (interviews)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19856" y="3017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9856" y="32186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sources; coordination &amp; scheduling support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960120"/>
            <a:ext cx="2651760" cy="502920"/>
          </a:xfrm>
          <a:prstGeom prst="rect">
            <a:avLst/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63056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Data Use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63056" y="1463040"/>
            <a:ext cx="2651760" cy="2606040"/>
          </a:xfrm>
          <a:prstGeom prst="rect">
            <a:avLst/>
          </a:prstGeom>
          <a:solidFill>
            <a:srgbClr val="F7FAF8"/>
          </a:solidFill>
          <a:ln w="12700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72784" y="1572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98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Stakeholders: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189280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 Leadership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72784" y="22128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2784" y="25328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Ogun State Authorities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72784" y="28529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89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72784" y="310053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07A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72784" y="32186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Meaning-making, strategic decisions, external reporting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233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participatory by design, ensuring findings are credible, actionable, and trusted by all partners.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9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411480" cy="64008"/>
          </a:xfrm>
          <a:prstGeom prst="rect">
            <a:avLst/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Purpose &amp;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784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5C6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determine the extent to which TFN's two-year fellowship develops high-potential graduates into impactful classroom teachers and equity leaders in underserved communities in Nigeria.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1078992"/>
          </a:xfrm>
          <a:prstGeom prst="rect">
            <a:avLst/>
          </a:prstGeom>
          <a:solidFill>
            <a:srgbClr val="EDF7F2"/>
          </a:solidFill>
          <a:ln w="12700">
            <a:solidFill>
              <a:srgbClr val="A7D9B9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66928" cy="10789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66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219456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QUESTION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03055" y="2534813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 TFN fellows serve in environments with the greatest scarcity of qualified teachers?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1078992"/>
          </a:xfrm>
          <a:prstGeom prst="rect">
            <a:avLst/>
          </a:prstGeom>
          <a:solidFill>
            <a:srgbClr val="FEF9EE"/>
          </a:solidFill>
          <a:ln w="12700">
            <a:solidFill>
              <a:srgbClr val="F0C97F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566928" cy="1078992"/>
          </a:xfrm>
          <a:prstGeom prst="rect">
            <a:avLst/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566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342900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/ IMPLEMENTATION QUESTION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24128" y="3769253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 TFN's fundamental elements (recruitment, pre-service training, coaching, and in-school support) contribute to improving fellow effectiveness?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4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411480" cy="64008"/>
          </a:xfrm>
          <a:prstGeom prst="rect">
            <a:avLst/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Methods — A Mixed-Methods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640080"/>
          </a:xfrm>
          <a:prstGeom prst="rect">
            <a:avLst/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Administrative Data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2788920"/>
          </a:xfrm>
          <a:prstGeom prst="rect">
            <a:avLst/>
          </a:prstGeom>
          <a:solidFill>
            <a:srgbClr val="F7FAF8"/>
          </a:solidFill>
          <a:ln w="12700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09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records, coaching logs, performance review counts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4597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267004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TFN fellows in Ogun State schools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2095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341985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dosage data on coaching, placement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09651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4096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EQ1 &amp; EQ2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960120"/>
            <a:ext cx="265176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0128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10128" y="1600200"/>
            <a:ext cx="2651760" cy="2788920"/>
          </a:xfrm>
          <a:prstGeom prst="rect">
            <a:avLst/>
          </a:prstGeom>
          <a:solidFill>
            <a:srgbClr val="F7FAF8"/>
          </a:solidFill>
          <a:ln w="12700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19856" y="1709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19856" y="19202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Likert-scale survey (6 sections, ~12 min)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19856" y="24597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19856" y="267004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Year 1 &amp; Year 2 fellows in Ogun State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9856" y="32095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19856" y="341985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Perceptions of recruitment, training, coaching quality &amp; self-reported effectiveness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19856" y="409651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9856" y="4096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EQ1 &amp; EQ2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960120"/>
            <a:ext cx="2651760" cy="640080"/>
          </a:xfrm>
          <a:prstGeom prst="rect">
            <a:avLst/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63056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63056" y="1600200"/>
            <a:ext cx="2651760" cy="2788920"/>
          </a:xfrm>
          <a:prstGeom prst="rect">
            <a:avLst/>
          </a:prstGeom>
          <a:solidFill>
            <a:srgbClr val="F7FAF8"/>
          </a:solidFill>
          <a:ln w="12700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72784" y="1709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72784" y="192024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interviews with school administrators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72784" y="24597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72784" y="267004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host school principals (primary &amp; secondary)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2784" y="32095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72784" y="341985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insights, external view of fellow teaching improvement over time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2784" y="409651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72784" y="4096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411480" cy="64008"/>
          </a:xfrm>
          <a:prstGeom prst="rect">
            <a:avLst/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7971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Administration Plan — How &amp; When We Collect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755648" cy="384048"/>
          </a:xfrm>
          <a:prstGeom prst="rect">
            <a:avLst/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1572768" cy="384048"/>
          </a:xfrm>
          <a:prstGeom prst="rect">
            <a:avLst/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005840"/>
            <a:ext cx="1938528" cy="384048"/>
          </a:xfrm>
          <a:prstGeom prst="rect">
            <a:avLst/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0" y="100584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761488" cy="384048"/>
          </a:xfrm>
          <a:prstGeom prst="rect">
            <a:avLst/>
          </a:prstGeom>
          <a:solidFill>
            <a:srgbClr val="0D3D24"/>
          </a:solidFill>
          <a:ln w="12700">
            <a:solidFill>
              <a:srgbClr val="0D3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100584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1755648" cy="822960"/>
          </a:xfrm>
          <a:prstGeom prst="rect">
            <a:avLst/>
          </a:prstGeom>
          <a:solidFill>
            <a:srgbClr val="F0F7F3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4630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Administrative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0" y="1463040"/>
            <a:ext cx="1572768" cy="822960"/>
          </a:xfrm>
          <a:prstGeom prst="rect">
            <a:avLst/>
          </a:prstGeom>
          <a:solidFill>
            <a:srgbClr val="F0F7F3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14630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Admin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1463040"/>
            <a:ext cx="1938528" cy="822960"/>
          </a:xfrm>
          <a:prstGeom prst="rect">
            <a:avLst/>
          </a:prstGeom>
          <a:solidFill>
            <a:srgbClr val="F0F7F3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0" y="14630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Ongoing, throughout fellowship year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463040"/>
            <a:ext cx="2761488" cy="822960"/>
          </a:xfrm>
          <a:prstGeom prst="rect">
            <a:avLst/>
          </a:prstGeom>
          <a:solidFill>
            <a:srgbClr val="F0F7F3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1463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Ogun State fellows — by cohort (Yr 1 vs Yr 2) &amp; school type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175564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3774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86000" y="2377440"/>
            <a:ext cx="157276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0" y="23774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2377440"/>
            <a:ext cx="193852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23360" y="23774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period, at program midpoint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377440"/>
            <a:ext cx="276148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23774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Year 1 &amp; Year 2 fellows in Ogun State placement schools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1755648" cy="822960"/>
          </a:xfrm>
          <a:prstGeom prst="rect">
            <a:avLst/>
          </a:prstGeom>
          <a:solidFill>
            <a:srgbClr val="F0F7F3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286000" y="3291840"/>
            <a:ext cx="1572768" cy="822960"/>
          </a:xfrm>
          <a:prstGeom prst="rect">
            <a:avLst/>
          </a:prstGeom>
          <a:solidFill>
            <a:srgbClr val="F0F7F3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77440" y="3291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Team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3291840"/>
            <a:ext cx="1938528" cy="822960"/>
          </a:xfrm>
          <a:prstGeom prst="rect">
            <a:avLst/>
          </a:prstGeom>
          <a:solidFill>
            <a:srgbClr val="F0F7F3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3360" y="32918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period, near end of fellowship year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291840"/>
            <a:ext cx="2761488" cy="822960"/>
          </a:xfrm>
          <a:prstGeom prst="rect">
            <a:avLst/>
          </a:prstGeom>
          <a:solidFill>
            <a:srgbClr val="F0F7F3"/>
          </a:solidFill>
          <a:ln w="9525">
            <a:solidFill>
              <a:srgbClr val="D0E8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35040" y="3291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host school principals (purposive: ≥1 primary, ≥1 secondary)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collection coordinated by an independent evaluation team. Fellows assured of confidentiality before survey participation.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3">
            <a:extLst>
              <a:ext uri="{FF2B5EF4-FFF2-40B4-BE49-F238E27FC236}">
                <a16:creationId xmlns:a16="http://schemas.microsoft.com/office/drawing/2014/main" id="{C62F5AD5-97EC-1166-CEA2-783816489B16}"/>
              </a:ext>
            </a:extLst>
          </p:cNvPr>
          <p:cNvSpPr/>
          <p:nvPr/>
        </p:nvSpPr>
        <p:spPr>
          <a:xfrm>
            <a:off x="6149340" y="1271016"/>
            <a:ext cx="2743200" cy="3611880"/>
          </a:xfrm>
          <a:prstGeom prst="rect">
            <a:avLst/>
          </a:prstGeom>
          <a:solidFill>
            <a:srgbClr val="1B4332"/>
          </a:solidFill>
          <a:ln w="1016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8EC21380-AC86-A9FC-075C-BCD5C50C123E}"/>
              </a:ext>
            </a:extLst>
          </p:cNvPr>
          <p:cNvSpPr/>
          <p:nvPr/>
        </p:nvSpPr>
        <p:spPr>
          <a:xfrm>
            <a:off x="3203448" y="1271016"/>
            <a:ext cx="2743200" cy="3611880"/>
          </a:xfrm>
          <a:prstGeom prst="rect">
            <a:avLst/>
          </a:prstGeom>
          <a:solidFill>
            <a:srgbClr val="1B4332"/>
          </a:solidFill>
          <a:ln w="1016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AD58E0-115B-EF4F-0527-32BA644F76AA}"/>
              </a:ext>
            </a:extLst>
          </p:cNvPr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9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Key Strategies for Putting Findings to Work</a:t>
            </a:r>
            <a:endParaRPr lang="en-US" sz="1200" dirty="0">
              <a:solidFill>
                <a:srgbClr val="196B3C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DA44D6-6DB2-EAA0-6EC5-743B25FDCE97}"/>
              </a:ext>
            </a:extLst>
          </p:cNvPr>
          <p:cNvSpPr/>
          <p:nvPr/>
        </p:nvSpPr>
        <p:spPr>
          <a:xfrm>
            <a:off x="251460" y="1299892"/>
            <a:ext cx="2743200" cy="3611880"/>
          </a:xfrm>
          <a:prstGeom prst="rect">
            <a:avLst/>
          </a:prstGeom>
          <a:solidFill>
            <a:srgbClr val="1B4332"/>
          </a:solidFill>
          <a:ln w="1016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3C2A542-B7FC-8526-46FC-07822A8F7455}"/>
              </a:ext>
            </a:extLst>
          </p:cNvPr>
          <p:cNvSpPr/>
          <p:nvPr/>
        </p:nvSpPr>
        <p:spPr>
          <a:xfrm>
            <a:off x="1417320" y="1371600"/>
            <a:ext cx="548640" cy="54864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98715BA-F447-6CC0-98A0-0C4C73F03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08176"/>
            <a:ext cx="457200" cy="4572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A523680F-1478-711E-E900-B94984687B52}"/>
              </a:ext>
            </a:extLst>
          </p:cNvPr>
          <p:cNvSpPr/>
          <p:nvPr/>
        </p:nvSpPr>
        <p:spPr>
          <a:xfrm>
            <a:off x="429768" y="1993392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Program Improvement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E4A042E-46AC-DB6C-3D24-97D4C0EEAF5F}"/>
              </a:ext>
            </a:extLst>
          </p:cNvPr>
          <p:cNvSpPr/>
          <p:nvPr/>
        </p:nvSpPr>
        <p:spPr>
          <a:xfrm>
            <a:off x="429768" y="254203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leaders, coaches &amp; training staff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A9CFD66-7894-4010-CD50-002D4699FC30}"/>
              </a:ext>
            </a:extLst>
          </p:cNvPr>
          <p:cNvSpPr/>
          <p:nvPr/>
        </p:nvSpPr>
        <p:spPr>
          <a:xfrm>
            <a:off x="429768" y="30175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report + meaning-making sessions</a:t>
            </a:r>
            <a:endParaRPr lang="en-US" sz="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EF139D4-46D5-9A86-4190-5CBB4BEE0635}"/>
              </a:ext>
            </a:extLst>
          </p:cNvPr>
          <p:cNvSpPr/>
          <p:nvPr/>
        </p:nvSpPr>
        <p:spPr>
          <a:xfrm>
            <a:off x="429768" y="340156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fellowship components (training, coaching, placement) most drive fellow effectiveness, target improvements to curriculum and coaching frequency</a:t>
            </a:r>
            <a:endParaRPr lang="en-US" sz="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5833E3B-A03D-541D-C7CE-345F4291FD28}"/>
              </a:ext>
            </a:extLst>
          </p:cNvPr>
          <p:cNvSpPr/>
          <p:nvPr/>
        </p:nvSpPr>
        <p:spPr>
          <a:xfrm>
            <a:off x="429768" y="422452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</a:t>
            </a:r>
            <a:r>
              <a:rPr lang="en-US" sz="9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evaluation period</a:t>
            </a:r>
            <a:endParaRPr lang="en-US" sz="8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F6EB78F-A695-F60D-8D7F-7EE92D98D1A1}"/>
              </a:ext>
            </a:extLst>
          </p:cNvPr>
          <p:cNvSpPr/>
          <p:nvPr/>
        </p:nvSpPr>
        <p:spPr>
          <a:xfrm>
            <a:off x="4343400" y="1371600"/>
            <a:ext cx="548640" cy="54864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B5F71172-9104-5378-41E3-54F7D6F3E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08176"/>
            <a:ext cx="457200" cy="45720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B781FC16-673D-6FD9-EA63-D1EFD7D287B7}"/>
              </a:ext>
            </a:extLst>
          </p:cNvPr>
          <p:cNvSpPr/>
          <p:nvPr/>
        </p:nvSpPr>
        <p:spPr>
          <a:xfrm>
            <a:off x="3355848" y="1993392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&amp; Community Partnership</a:t>
            </a:r>
            <a:endParaRPr lang="en-US" sz="10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0FB08A7-5AD3-45DE-D9D3-146D896A7227}"/>
              </a:ext>
            </a:extLst>
          </p:cNvPr>
          <p:cNvSpPr/>
          <p:nvPr/>
        </p:nvSpPr>
        <p:spPr>
          <a:xfrm>
            <a:off x="3355848" y="254203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Ogun State Ministry of Education + host school administrators</a:t>
            </a:r>
            <a:endParaRPr lang="en-US" sz="8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56F0823-7F9D-8BE5-CF5B-907F591C2341}"/>
              </a:ext>
            </a:extLst>
          </p:cNvPr>
          <p:cNvSpPr/>
          <p:nvPr/>
        </p:nvSpPr>
        <p:spPr>
          <a:xfrm>
            <a:off x="3355848" y="30175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Policy-relevant summary + school-level findings briefs</a:t>
            </a:r>
            <a:endParaRPr lang="en-US" sz="8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1717535-C614-CEE7-85D4-0319481E6978}"/>
              </a:ext>
            </a:extLst>
          </p:cNvPr>
          <p:cNvSpPr/>
          <p:nvPr/>
        </p:nvSpPr>
        <p:spPr>
          <a:xfrm>
            <a:off x="3355848" y="340156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TFN's contribution to teacher quality in Ogun State; strengthen placement policy and resource allocation for future cohorts</a:t>
            </a:r>
            <a:endParaRPr lang="en-US" sz="8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B8394FE-793D-D2D1-1EFB-BFA0BBB2A261}"/>
              </a:ext>
            </a:extLst>
          </p:cNvPr>
          <p:cNvSpPr/>
          <p:nvPr/>
        </p:nvSpPr>
        <p:spPr>
          <a:xfrm>
            <a:off x="3355848" y="422452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</a:t>
            </a:r>
            <a:r>
              <a:rPr lang="en-US" sz="9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report finalization</a:t>
            </a:r>
            <a:endParaRPr lang="en-US" sz="8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D6835887-504D-D66A-3792-817E09D162C5}"/>
              </a:ext>
            </a:extLst>
          </p:cNvPr>
          <p:cNvSpPr/>
          <p:nvPr/>
        </p:nvSpPr>
        <p:spPr>
          <a:xfrm>
            <a:off x="7269480" y="1371600"/>
            <a:ext cx="548640" cy="54864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16BAF845-4908-6F61-548A-18669A39F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08176"/>
            <a:ext cx="457200" cy="457200"/>
          </a:xfrm>
          <a:prstGeom prst="rect">
            <a:avLst/>
          </a:prstGeom>
        </p:spPr>
      </p:pic>
      <p:sp>
        <p:nvSpPr>
          <p:cNvPr id="24" name="Text 19">
            <a:extLst>
              <a:ext uri="{FF2B5EF4-FFF2-40B4-BE49-F238E27FC236}">
                <a16:creationId xmlns:a16="http://schemas.microsoft.com/office/drawing/2014/main" id="{4E2ABB9C-B602-20D1-012C-CC2DB0DAF275}"/>
              </a:ext>
            </a:extLst>
          </p:cNvPr>
          <p:cNvSpPr/>
          <p:nvPr/>
        </p:nvSpPr>
        <p:spPr>
          <a:xfrm>
            <a:off x="6281928" y="1993392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Funder Communication &amp; Accountability</a:t>
            </a:r>
            <a:endParaRPr lang="en-US" sz="105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196FC1A9-7F7B-D703-2DC5-2BBF3CD403F8}"/>
              </a:ext>
            </a:extLst>
          </p:cNvPr>
          <p:cNvSpPr/>
          <p:nvPr/>
        </p:nvSpPr>
        <p:spPr>
          <a:xfrm>
            <a:off x="6281928" y="254203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funders, prospective funders &amp; TFN Board</a:t>
            </a:r>
            <a:endParaRPr lang="en-US" sz="8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A338475E-E013-973F-ED11-B2FEC16A73AC}"/>
              </a:ext>
            </a:extLst>
          </p:cNvPr>
          <p:cNvSpPr/>
          <p:nvPr/>
        </p:nvSpPr>
        <p:spPr>
          <a:xfrm>
            <a:off x="6281928" y="30175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report, slide deck, executive summary</a:t>
            </a:r>
            <a:endParaRPr lang="en-US" sz="80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1A9F1128-3804-BC40-ED7C-9106FCD48946}"/>
              </a:ext>
            </a:extLst>
          </p:cNvPr>
          <p:cNvSpPr/>
          <p:nvPr/>
        </p:nvSpPr>
        <p:spPr>
          <a:xfrm>
            <a:off x="6281928" y="340156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evaluation evidence directly to the program's theory of change and logic model, making the case for continued and expanded investment</a:t>
            </a:r>
            <a:endParaRPr lang="en-US" sz="8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D60BB3E4-4115-49D0-BE3A-59062F59A99C}"/>
              </a:ext>
            </a:extLst>
          </p:cNvPr>
          <p:cNvSpPr/>
          <p:nvPr/>
        </p:nvSpPr>
        <p:spPr>
          <a:xfrm>
            <a:off x="6281928" y="422452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</a:t>
            </a:r>
            <a:r>
              <a:rPr lang="en-US" sz="9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period / ongoing</a:t>
            </a:r>
            <a:endParaRPr lang="en-US" sz="800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88E94A8A-CF5E-426B-7B05-093D10418F57}"/>
              </a:ext>
            </a:extLst>
          </p:cNvPr>
          <p:cNvSpPr/>
          <p:nvPr/>
        </p:nvSpPr>
        <p:spPr>
          <a:xfrm>
            <a:off x="457200" y="201168"/>
            <a:ext cx="411480" cy="64008"/>
          </a:xfrm>
          <a:prstGeom prst="rect">
            <a:avLst/>
          </a:prstGeom>
          <a:solidFill>
            <a:srgbClr val="E8982A"/>
          </a:solidFill>
          <a:ln w="12700">
            <a:solidFill>
              <a:srgbClr val="E898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A127CF98-B457-37FC-E4F5-3A247A9E66ED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3D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Use Plan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1821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EVALUATION MATTERS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9601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B4332"/>
                </a:solidFill>
                <a:latin typeface="Trebuchet MS" panose="020B0703020202090204" pitchFamily="34" charset="0"/>
                <a:ea typeface="Georgia" pitchFamily="34" charset="-122"/>
                <a:cs typeface="Georgia" pitchFamily="34" charset="-120"/>
              </a:rPr>
              <a:t>We know TFN works.</a:t>
            </a:r>
            <a:endParaRPr lang="en-US" sz="3600" b="1" dirty="0">
              <a:solidFill>
                <a:srgbClr val="1B4332"/>
              </a:solidFill>
              <a:latin typeface="Trebuchet MS" panose="020B070302020209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B4332"/>
                </a:solidFill>
                <a:latin typeface="Trebuchet MS" panose="020B0703020202090204" pitchFamily="34" charset="0"/>
                <a:ea typeface="Georgia" pitchFamily="34" charset="-122"/>
                <a:cs typeface="Georgia" pitchFamily="34" charset="-120"/>
              </a:rPr>
              <a:t>Now we need to know why.</a:t>
            </a:r>
            <a:endParaRPr lang="en-US" sz="3600" b="1" dirty="0">
              <a:solidFill>
                <a:srgbClr val="1B4332"/>
              </a:solidFill>
              <a:latin typeface="Trebuchet MS" panose="020B070302020209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260604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260604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41401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Rigorous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2962656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methods, triangulated across administrative data, survey, and qualitative interviews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286000"/>
            <a:ext cx="260604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91840" y="2286000"/>
            <a:ext cx="260604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241401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Stakeholder-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01568" y="2962656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TFN leadership &amp; coaches; findings reach every key audience in accessible formats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286000"/>
            <a:ext cx="260604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2286000"/>
            <a:ext cx="260604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241401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Use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2962656"/>
            <a:ext cx="2386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tied to TFN's logic model and theory of change are designed to improve the fellowship, not just describe it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3B8BBF8-FC42-FEB8-AA6F-18FE1D225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4294124"/>
            <a:ext cx="1638300" cy="84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2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B2276-C05B-C120-971B-5A3E55317DB7}"/>
              </a:ext>
            </a:extLst>
          </p:cNvPr>
          <p:cNvSpPr txBox="1"/>
          <p:nvPr/>
        </p:nvSpPr>
        <p:spPr>
          <a:xfrm>
            <a:off x="667753" y="480060"/>
            <a:ext cx="2800511" cy="267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>
                <a:latin typeface="+mj-lt"/>
                <a:ea typeface="+mj-ea"/>
                <a:cs typeface="+mj-cs"/>
              </a:rPr>
              <a:t>Ask me questions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753" y="3306950"/>
            <a:ext cx="2606040" cy="13716"/>
          </a:xfrm>
          <a:custGeom>
            <a:avLst/>
            <a:gdLst>
              <a:gd name="csX0" fmla="*/ 0 w 2606040"/>
              <a:gd name="csY0" fmla="*/ 0 h 13716"/>
              <a:gd name="csX1" fmla="*/ 625450 w 2606040"/>
              <a:gd name="csY1" fmla="*/ 0 h 13716"/>
              <a:gd name="csX2" fmla="*/ 1224839 w 2606040"/>
              <a:gd name="csY2" fmla="*/ 0 h 13716"/>
              <a:gd name="csX3" fmla="*/ 1824228 w 2606040"/>
              <a:gd name="csY3" fmla="*/ 0 h 13716"/>
              <a:gd name="csX4" fmla="*/ 2606040 w 2606040"/>
              <a:gd name="csY4" fmla="*/ 0 h 13716"/>
              <a:gd name="csX5" fmla="*/ 2606040 w 2606040"/>
              <a:gd name="csY5" fmla="*/ 13716 h 13716"/>
              <a:gd name="csX6" fmla="*/ 1902409 w 2606040"/>
              <a:gd name="csY6" fmla="*/ 13716 h 13716"/>
              <a:gd name="csX7" fmla="*/ 1276960 w 2606040"/>
              <a:gd name="csY7" fmla="*/ 13716 h 13716"/>
              <a:gd name="csX8" fmla="*/ 677570 w 2606040"/>
              <a:gd name="csY8" fmla="*/ 13716 h 13716"/>
              <a:gd name="csX9" fmla="*/ 0 w 2606040"/>
              <a:gd name="csY9" fmla="*/ 13716 h 13716"/>
              <a:gd name="csX10" fmla="*/ 0 w 2606040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3716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690" y="5728"/>
                  <a:pt x="2605650" y="7624"/>
                  <a:pt x="2606040" y="13716"/>
                </a:cubicBezTo>
                <a:cubicBezTo>
                  <a:pt x="2256758" y="26838"/>
                  <a:pt x="2173673" y="-17450"/>
                  <a:pt x="1902409" y="13716"/>
                </a:cubicBezTo>
                <a:cubicBezTo>
                  <a:pt x="1631145" y="44882"/>
                  <a:pt x="1461378" y="894"/>
                  <a:pt x="1276960" y="13716"/>
                </a:cubicBezTo>
                <a:cubicBezTo>
                  <a:pt x="1092542" y="26538"/>
                  <a:pt x="890442" y="8641"/>
                  <a:pt x="677570" y="13716"/>
                </a:cubicBezTo>
                <a:cubicBezTo>
                  <a:pt x="464698" y="18792"/>
                  <a:pt x="187648" y="31265"/>
                  <a:pt x="0" y="13716"/>
                </a:cubicBezTo>
                <a:cubicBezTo>
                  <a:pt x="-302" y="10335"/>
                  <a:pt x="417" y="4724"/>
                  <a:pt x="0" y="0"/>
                </a:cubicBezTo>
                <a:close/>
              </a:path>
              <a:path w="2606040" h="13716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6569" y="5071"/>
                  <a:pt x="2606315" y="7437"/>
                  <a:pt x="2606040" y="13716"/>
                </a:cubicBezTo>
                <a:cubicBezTo>
                  <a:pt x="2393024" y="-2332"/>
                  <a:pt x="2191161" y="34687"/>
                  <a:pt x="1980590" y="13716"/>
                </a:cubicBezTo>
                <a:cubicBezTo>
                  <a:pt x="1770019" y="-7255"/>
                  <a:pt x="1476440" y="31542"/>
                  <a:pt x="1276960" y="13716"/>
                </a:cubicBezTo>
                <a:cubicBezTo>
                  <a:pt x="1077480" y="-4110"/>
                  <a:pt x="880988" y="37553"/>
                  <a:pt x="651510" y="13716"/>
                </a:cubicBezTo>
                <a:cubicBezTo>
                  <a:pt x="422032" y="-10121"/>
                  <a:pt x="130744" y="-6519"/>
                  <a:pt x="0" y="13716"/>
                </a:cubicBezTo>
                <a:cubicBezTo>
                  <a:pt x="198" y="8947"/>
                  <a:pt x="304" y="52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B0C0C-A32A-FE72-106A-7E33D25090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301"/>
          <a:stretch>
            <a:fillRect/>
          </a:stretch>
        </p:blipFill>
        <p:spPr>
          <a:xfrm>
            <a:off x="3983776" y="10"/>
            <a:ext cx="5159081" cy="51434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49277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808B3C-76BB-CDD7-2B71-2106BA4E7DE1}"/>
              </a:ext>
            </a:extLst>
          </p:cNvPr>
          <p:cNvSpPr txBox="1"/>
          <p:nvPr/>
        </p:nvSpPr>
        <p:spPr>
          <a:xfrm>
            <a:off x="3200400" y="248283"/>
            <a:ext cx="7884414" cy="3049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
</a:t>
            </a: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4B6AC982-757F-2FC4-7598-D2B53995B638}"/>
              </a:ext>
            </a:extLst>
          </p:cNvPr>
          <p:cNvSpPr/>
          <p:nvPr/>
        </p:nvSpPr>
        <p:spPr>
          <a:xfrm>
            <a:off x="2600325" y="2912465"/>
            <a:ext cx="771525" cy="728663"/>
          </a:xfrm>
          <a:prstGeom prst="chevron">
            <a:avLst/>
          </a:prstGeom>
          <a:solidFill>
            <a:srgbClr val="2D6A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275B42C2-12B4-E8C4-BF6C-EBBF3F54ACBF}"/>
              </a:ext>
            </a:extLst>
          </p:cNvPr>
          <p:cNvSpPr/>
          <p:nvPr/>
        </p:nvSpPr>
        <p:spPr>
          <a:xfrm>
            <a:off x="3536775" y="2955248"/>
            <a:ext cx="771525" cy="685880"/>
          </a:xfrm>
          <a:prstGeom prst="chevron">
            <a:avLst/>
          </a:prstGeom>
          <a:solidFill>
            <a:srgbClr val="2D6A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8FC287E8-8CC9-228C-A93B-990BF45386BD}"/>
              </a:ext>
            </a:extLst>
          </p:cNvPr>
          <p:cNvSpPr/>
          <p:nvPr/>
        </p:nvSpPr>
        <p:spPr>
          <a:xfrm>
            <a:off x="4473225" y="2955248"/>
            <a:ext cx="771525" cy="728663"/>
          </a:xfrm>
          <a:prstGeom prst="chevron">
            <a:avLst/>
          </a:prstGeom>
          <a:solidFill>
            <a:srgbClr val="2D6A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55406A3B-A668-501D-B4A4-4DAF3820B3F9}"/>
              </a:ext>
            </a:extLst>
          </p:cNvPr>
          <p:cNvSpPr/>
          <p:nvPr/>
        </p:nvSpPr>
        <p:spPr>
          <a:xfrm>
            <a:off x="5409675" y="2955247"/>
            <a:ext cx="771525" cy="728663"/>
          </a:xfrm>
          <a:prstGeom prst="chevron">
            <a:avLst/>
          </a:prstGeom>
          <a:solidFill>
            <a:srgbClr val="2D6A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1CFCEA87-4587-E097-DF08-B2DC2482EA51}"/>
              </a:ext>
            </a:extLst>
          </p:cNvPr>
          <p:cNvSpPr/>
          <p:nvPr/>
        </p:nvSpPr>
        <p:spPr>
          <a:xfrm>
            <a:off x="6263213" y="2955246"/>
            <a:ext cx="771525" cy="728663"/>
          </a:xfrm>
          <a:prstGeom prst="chevron">
            <a:avLst/>
          </a:prstGeom>
          <a:solidFill>
            <a:srgbClr val="2D6A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3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941</Words>
  <Application>Microsoft Macintosh PowerPoint</Application>
  <PresentationFormat>On-screen Show (16:9)</PresentationFormat>
  <Paragraphs>168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 For Nigeria Fellowship Evaluation</dc:title>
  <dc:subject>PptxGenJS Presentation</dc:subject>
  <dc:creator>Nene Onyedi Ibezim</dc:creator>
  <cp:lastModifiedBy>Ibezim, Nene Onyedi</cp:lastModifiedBy>
  <cp:revision>4</cp:revision>
  <dcterms:created xsi:type="dcterms:W3CDTF">2026-04-20T17:20:38Z</dcterms:created>
  <dcterms:modified xsi:type="dcterms:W3CDTF">2026-04-21T02:39:03Z</dcterms:modified>
</cp:coreProperties>
</file>